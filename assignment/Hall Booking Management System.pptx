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84" r:id="rId18"/>
    <p:sldId id="269" r:id="rId19"/>
    <p:sldId id="270" r:id="rId20"/>
    <p:sldId id="271" r:id="rId21"/>
    <p:sldId id="286" r:id="rId22"/>
    <p:sldId id="272" r:id="rId23"/>
    <p:sldId id="273" r:id="rId24"/>
    <p:sldId id="287" r:id="rId25"/>
    <p:sldId id="274" r:id="rId26"/>
    <p:sldId id="288" r:id="rId27"/>
    <p:sldId id="275" r:id="rId28"/>
    <p:sldId id="289" r:id="rId29"/>
    <p:sldId id="276" r:id="rId30"/>
    <p:sldId id="290" r:id="rId31"/>
    <p:sldId id="277" r:id="rId32"/>
    <p:sldId id="278" r:id="rId33"/>
    <p:sldId id="279" r:id="rId34"/>
    <p:sldId id="280" r:id="rId35"/>
    <p:sldId id="281" r:id="rId36"/>
    <p:sldId id="282" r:id="rId37"/>
    <p:sldId id="283" r:id="rId38"/>
  </p:sldIdLst>
  <p:sldSz cx="12192000" cy="6858000"/>
  <p:notesSz cx="6858000" cy="12192000"/>
  <p:embeddedFontLst>
    <p:embeddedFont>
      <p:font typeface="Sorts Mill Goudy" pitchFamily="34" charset="-122"/>
      <p:regular r:id="rId42"/>
    </p:embeddedFont>
    <p:embeddedFont>
      <p:font typeface="MiSans" pitchFamily="34" charset="-122"/>
      <p:regular r:id="rId4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3" Type="http://schemas.openxmlformats.org/officeDocument/2006/relationships/font" Target="fonts/font2.fntdata"/><Relationship Id="rId42" Type="http://schemas.openxmlformats.org/officeDocument/2006/relationships/font" Target="fonts/font1.fntdata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1.xml"/><Relationship Id="rId39" Type="http://schemas.openxmlformats.org/officeDocument/2006/relationships/presProps" Target="presProps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ca89bb1c43c7e2640e5a3313413b714ed3b2ef66.jpg"/>
          <p:cNvPicPr>
            <a:picLocks noChangeAspect="1"/>
          </p:cNvPicPr>
          <p:nvPr/>
        </p:nvPicPr>
        <p:blipFill>
          <a:blip r:embed="rId1">
            <a:alphaModFix amt="20000"/>
          </a:blip>
          <a:srcRect t="5000" b="500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939629" y="1466850"/>
            <a:ext cx="4314825" cy="400050"/>
          </a:xfrm>
          <a:custGeom>
            <a:avLst/>
            <a:gdLst/>
            <a:ahLst/>
            <a:cxnLst/>
            <a:rect l="l" t="t" r="r" b="b"/>
            <a:pathLst>
              <a:path w="4314825" h="400050">
                <a:moveTo>
                  <a:pt x="0" y="0"/>
                </a:moveTo>
                <a:lnTo>
                  <a:pt x="4314825" y="0"/>
                </a:lnTo>
                <a:lnTo>
                  <a:pt x="4314825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44417" y="1571625"/>
            <a:ext cx="390301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Object-Oriented Programming Case Study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396407" y="2409825"/>
            <a:ext cx="5400675" cy="142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Hall Booking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Management System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40671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Text 5"/>
          <p:cNvSpPr/>
          <p:nvPr/>
        </p:nvSpPr>
        <p:spPr>
          <a:xfrm>
            <a:off x="3273772" y="4410075"/>
            <a:ext cx="56483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Java Desktop GUI Application by Hall Symphony Inc.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05176" y="52101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7"/>
          <p:cNvSpPr/>
          <p:nvPr/>
        </p:nvSpPr>
        <p:spPr>
          <a:xfrm>
            <a:off x="4705201" y="5172075"/>
            <a:ext cx="371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2026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356771" y="52101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Text 9"/>
          <p:cNvSpPr/>
          <p:nvPr/>
        </p:nvSpPr>
        <p:spPr>
          <a:xfrm>
            <a:off x="5575846" y="5172075"/>
            <a:ext cx="781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Java Swing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628209" y="52101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Text 11"/>
          <p:cNvSpPr/>
          <p:nvPr/>
        </p:nvSpPr>
        <p:spPr>
          <a:xfrm>
            <a:off x="6856809" y="5172075"/>
            <a:ext cx="895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 User Roles</a:t>
            </a:r>
            <a:endParaRPr lang="en-US" sz="1600" dirty="0"/>
          </a:p>
        </p:txBody>
      </p:sp>
      <p:sp>
        <p:nvSpPr>
          <p:cNvPr id="15" name="Text Box 14"/>
          <p:cNvSpPr txBox="1"/>
          <p:nvPr/>
        </p:nvSpPr>
        <p:spPr>
          <a:xfrm>
            <a:off x="7202170" y="4879340"/>
            <a:ext cx="475996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/>
              <a:t>Submitted By:</a:t>
            </a:r>
            <a:endParaRPr lang="en-US"/>
          </a:p>
          <a:p>
            <a:pPr algn="r"/>
            <a:endParaRPr lang="en-US"/>
          </a:p>
          <a:p>
            <a:pPr algn="r"/>
            <a:r>
              <a:rPr lang="en-US"/>
              <a:t>Aakash Subedi 		(NP070062)</a:t>
            </a:r>
            <a:endParaRPr lang="en-US"/>
          </a:p>
          <a:p>
            <a:pPr algn="r"/>
            <a:r>
              <a:rPr lang="en-US"/>
              <a:t>Abdul Rahman Kawari	(NP070082)</a:t>
            </a:r>
            <a:endParaRPr lang="en-US"/>
          </a:p>
          <a:p>
            <a:pPr algn="r"/>
            <a:r>
              <a:rPr lang="en-US">
                <a:sym typeface="+mn-ea"/>
              </a:rPr>
              <a:t>Mimi Shrestha 		(NP070232)</a:t>
            </a:r>
            <a:endParaRPr lang="en-US"/>
          </a:p>
          <a:p>
            <a:pPr algn="r"/>
            <a:r>
              <a:rPr lang="en-US"/>
              <a:t>Rabin Bista 		(NP070294)</a:t>
            </a:r>
            <a:endParaRPr lang="en-US"/>
          </a:p>
        </p:txBody>
      </p:sp>
      <p:pic>
        <p:nvPicPr>
          <p:cNvPr id="21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68595" y="127635"/>
            <a:ext cx="1359535" cy="124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 Box 16"/>
          <p:cNvSpPr txBox="1"/>
          <p:nvPr/>
        </p:nvSpPr>
        <p:spPr>
          <a:xfrm>
            <a:off x="99060" y="5773420"/>
            <a:ext cx="47599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/>
              <a:t>Submitted To:</a:t>
            </a:r>
            <a:endParaRPr lang="en-US"/>
          </a:p>
          <a:p>
            <a:pPr algn="l"/>
            <a:endParaRPr lang="en-US"/>
          </a:p>
          <a:p>
            <a:pPr algn="l"/>
            <a:r>
              <a:rPr lang="en-US"/>
              <a:t>Ishan Shrestha 	(Module Lecturer)</a:t>
            </a:r>
            <a:endParaRPr 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09700"/>
            <a:ext cx="5467350" cy="1095375"/>
          </a:xfrm>
          <a:custGeom>
            <a:avLst/>
            <a:gdLst/>
            <a:ahLst/>
            <a:cxnLst/>
            <a:rect l="l" t="t" r="r" b="b"/>
            <a:pathLst>
              <a:path w="5467350" h="1095375">
                <a:moveTo>
                  <a:pt x="0" y="0"/>
                </a:moveTo>
                <a:lnTo>
                  <a:pt x="5467350" y="0"/>
                </a:lnTo>
                <a:lnTo>
                  <a:pt x="546735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400050" y="1409700"/>
            <a:ext cx="38100" cy="1095375"/>
          </a:xfrm>
          <a:custGeom>
            <a:avLst/>
            <a:gdLst/>
            <a:ahLst/>
            <a:cxnLst/>
            <a:rect l="l" t="t" r="r" b="b"/>
            <a:pathLst>
              <a:path w="38100" h="1095375">
                <a:moveTo>
                  <a:pt x="0" y="0"/>
                </a:moveTo>
                <a:lnTo>
                  <a:pt x="38100" y="0"/>
                </a:lnTo>
                <a:lnTo>
                  <a:pt x="3810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571500" y="1562100"/>
            <a:ext cx="3905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2294" y="1562100"/>
            <a:ext cx="2105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2294" y="1866900"/>
            <a:ext cx="2076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overview and specifications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43650" y="1409700"/>
            <a:ext cx="5467350" cy="1095375"/>
          </a:xfrm>
          <a:custGeom>
            <a:avLst/>
            <a:gdLst/>
            <a:ahLst/>
            <a:cxnLst/>
            <a:rect l="l" t="t" r="r" b="b"/>
            <a:pathLst>
              <a:path w="5467350" h="1095375">
                <a:moveTo>
                  <a:pt x="0" y="0"/>
                </a:moveTo>
                <a:lnTo>
                  <a:pt x="5467350" y="0"/>
                </a:lnTo>
                <a:lnTo>
                  <a:pt x="546735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0" name="Shape 8"/>
          <p:cNvSpPr/>
          <p:nvPr/>
        </p:nvSpPr>
        <p:spPr>
          <a:xfrm>
            <a:off x="6343650" y="1409700"/>
            <a:ext cx="38100" cy="1095375"/>
          </a:xfrm>
          <a:custGeom>
            <a:avLst/>
            <a:gdLst/>
            <a:ahLst/>
            <a:cxnLst/>
            <a:rect l="l" t="t" r="r" b="b"/>
            <a:pathLst>
              <a:path w="38100" h="1095375">
                <a:moveTo>
                  <a:pt x="0" y="0"/>
                </a:moveTo>
                <a:lnTo>
                  <a:pt x="38100" y="0"/>
                </a:lnTo>
                <a:lnTo>
                  <a:pt x="3810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Text 9"/>
          <p:cNvSpPr/>
          <p:nvPr/>
        </p:nvSpPr>
        <p:spPr>
          <a:xfrm>
            <a:off x="6515100" y="1562100"/>
            <a:ext cx="428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52506" y="1562100"/>
            <a:ext cx="1914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Design Solutions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52506" y="1866900"/>
            <a:ext cx="1885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UML diagrams and architecture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2733675"/>
            <a:ext cx="5467350" cy="1095375"/>
          </a:xfrm>
          <a:custGeom>
            <a:avLst/>
            <a:gdLst/>
            <a:ahLst/>
            <a:cxnLst/>
            <a:rect l="l" t="t" r="r" b="b"/>
            <a:pathLst>
              <a:path w="5467350" h="1095375">
                <a:moveTo>
                  <a:pt x="0" y="0"/>
                </a:moveTo>
                <a:lnTo>
                  <a:pt x="5467350" y="0"/>
                </a:lnTo>
                <a:lnTo>
                  <a:pt x="546735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5" name="Shape 13"/>
          <p:cNvSpPr/>
          <p:nvPr/>
        </p:nvSpPr>
        <p:spPr>
          <a:xfrm>
            <a:off x="400050" y="2733675"/>
            <a:ext cx="38100" cy="1095375"/>
          </a:xfrm>
          <a:custGeom>
            <a:avLst/>
            <a:gdLst/>
            <a:ahLst/>
            <a:cxnLst/>
            <a:rect l="l" t="t" r="r" b="b"/>
            <a:pathLst>
              <a:path w="38100" h="1095375">
                <a:moveTo>
                  <a:pt x="0" y="0"/>
                </a:moveTo>
                <a:lnTo>
                  <a:pt x="38100" y="0"/>
                </a:lnTo>
                <a:lnTo>
                  <a:pt x="3810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Text 14"/>
          <p:cNvSpPr/>
          <p:nvPr/>
        </p:nvSpPr>
        <p:spPr>
          <a:xfrm>
            <a:off x="571500" y="2886075"/>
            <a:ext cx="4095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2886075"/>
            <a:ext cx="2581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 Case Diagram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0600" y="3190875"/>
            <a:ext cx="2552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Actor interactions and system functionality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43650" y="2733675"/>
            <a:ext cx="5467350" cy="1095375"/>
          </a:xfrm>
          <a:custGeom>
            <a:avLst/>
            <a:gdLst/>
            <a:ahLst/>
            <a:cxnLst/>
            <a:rect l="l" t="t" r="r" b="b"/>
            <a:pathLst>
              <a:path w="5467350" h="1095375">
                <a:moveTo>
                  <a:pt x="0" y="0"/>
                </a:moveTo>
                <a:lnTo>
                  <a:pt x="5467350" y="0"/>
                </a:lnTo>
                <a:lnTo>
                  <a:pt x="546735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0" name="Shape 18"/>
          <p:cNvSpPr/>
          <p:nvPr/>
        </p:nvSpPr>
        <p:spPr>
          <a:xfrm>
            <a:off x="6343650" y="2733675"/>
            <a:ext cx="38100" cy="1095375"/>
          </a:xfrm>
          <a:custGeom>
            <a:avLst/>
            <a:gdLst/>
            <a:ahLst/>
            <a:cxnLst/>
            <a:rect l="l" t="t" r="r" b="b"/>
            <a:pathLst>
              <a:path w="38100" h="1095375">
                <a:moveTo>
                  <a:pt x="0" y="0"/>
                </a:moveTo>
                <a:lnTo>
                  <a:pt x="38100" y="0"/>
                </a:lnTo>
                <a:lnTo>
                  <a:pt x="3810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1" name="Text 19"/>
          <p:cNvSpPr/>
          <p:nvPr/>
        </p:nvSpPr>
        <p:spPr>
          <a:xfrm>
            <a:off x="6515100" y="2886075"/>
            <a:ext cx="438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62775" y="2886075"/>
            <a:ext cx="2333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Class Diagram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2775" y="3190875"/>
            <a:ext cx="2305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 layer structure and relationships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0050" y="4057650"/>
            <a:ext cx="5467350" cy="1095375"/>
          </a:xfrm>
          <a:custGeom>
            <a:avLst/>
            <a:gdLst/>
            <a:ahLst/>
            <a:cxnLst/>
            <a:rect l="l" t="t" r="r" b="b"/>
            <a:pathLst>
              <a:path w="5467350" h="1095375">
                <a:moveTo>
                  <a:pt x="0" y="0"/>
                </a:moveTo>
                <a:lnTo>
                  <a:pt x="5467350" y="0"/>
                </a:lnTo>
                <a:lnTo>
                  <a:pt x="546735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5" name="Shape 23"/>
          <p:cNvSpPr/>
          <p:nvPr/>
        </p:nvSpPr>
        <p:spPr>
          <a:xfrm>
            <a:off x="400050" y="4057650"/>
            <a:ext cx="38100" cy="1095375"/>
          </a:xfrm>
          <a:custGeom>
            <a:avLst/>
            <a:gdLst/>
            <a:ahLst/>
            <a:cxnLst/>
            <a:rect l="l" t="t" r="r" b="b"/>
            <a:pathLst>
              <a:path w="38100" h="1095375">
                <a:moveTo>
                  <a:pt x="0" y="0"/>
                </a:moveTo>
                <a:lnTo>
                  <a:pt x="38100" y="0"/>
                </a:lnTo>
                <a:lnTo>
                  <a:pt x="3810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6" name="Text 24"/>
          <p:cNvSpPr/>
          <p:nvPr/>
        </p:nvSpPr>
        <p:spPr>
          <a:xfrm>
            <a:off x="571500" y="4210050"/>
            <a:ext cx="3905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2889" y="4210050"/>
            <a:ext cx="2476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Program Output Screenshots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2889" y="4514850"/>
            <a:ext cx="2447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User interface demonstrations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43650" y="4057650"/>
            <a:ext cx="5467350" cy="1095375"/>
          </a:xfrm>
          <a:custGeom>
            <a:avLst/>
            <a:gdLst/>
            <a:ahLst/>
            <a:cxnLst/>
            <a:rect l="l" t="t" r="r" b="b"/>
            <a:pathLst>
              <a:path w="5467350" h="1095375">
                <a:moveTo>
                  <a:pt x="0" y="0"/>
                </a:moveTo>
                <a:lnTo>
                  <a:pt x="5467350" y="0"/>
                </a:lnTo>
                <a:lnTo>
                  <a:pt x="546735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30" name="Shape 28"/>
          <p:cNvSpPr/>
          <p:nvPr/>
        </p:nvSpPr>
        <p:spPr>
          <a:xfrm>
            <a:off x="6343650" y="4057650"/>
            <a:ext cx="38100" cy="1095375"/>
          </a:xfrm>
          <a:custGeom>
            <a:avLst/>
            <a:gdLst/>
            <a:ahLst/>
            <a:cxnLst/>
            <a:rect l="l" t="t" r="r" b="b"/>
            <a:pathLst>
              <a:path w="38100" h="1095375">
                <a:moveTo>
                  <a:pt x="0" y="0"/>
                </a:moveTo>
                <a:lnTo>
                  <a:pt x="38100" y="0"/>
                </a:lnTo>
                <a:lnTo>
                  <a:pt x="3810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1" name="Text 29"/>
          <p:cNvSpPr/>
          <p:nvPr/>
        </p:nvSpPr>
        <p:spPr>
          <a:xfrm>
            <a:off x="6515100" y="4210050"/>
            <a:ext cx="438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60691" y="4210050"/>
            <a:ext cx="2305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Object-Oriented Concepts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60691" y="4514850"/>
            <a:ext cx="2276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OOP principles implementation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00050" y="5381625"/>
            <a:ext cx="5467350" cy="1095375"/>
          </a:xfrm>
          <a:custGeom>
            <a:avLst/>
            <a:gdLst/>
            <a:ahLst/>
            <a:cxnLst/>
            <a:rect l="l" t="t" r="r" b="b"/>
            <a:pathLst>
              <a:path w="5467350" h="1095375">
                <a:moveTo>
                  <a:pt x="0" y="0"/>
                </a:moveTo>
                <a:lnTo>
                  <a:pt x="5467350" y="0"/>
                </a:lnTo>
                <a:lnTo>
                  <a:pt x="546735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35" name="Shape 33"/>
          <p:cNvSpPr/>
          <p:nvPr/>
        </p:nvSpPr>
        <p:spPr>
          <a:xfrm>
            <a:off x="400050" y="5381625"/>
            <a:ext cx="38100" cy="1095375"/>
          </a:xfrm>
          <a:custGeom>
            <a:avLst/>
            <a:gdLst/>
            <a:ahLst/>
            <a:cxnLst/>
            <a:rect l="l" t="t" r="r" b="b"/>
            <a:pathLst>
              <a:path w="38100" h="1095375">
                <a:moveTo>
                  <a:pt x="0" y="0"/>
                </a:moveTo>
                <a:lnTo>
                  <a:pt x="38100" y="0"/>
                </a:lnTo>
                <a:lnTo>
                  <a:pt x="3810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6" name="Text 34"/>
          <p:cNvSpPr/>
          <p:nvPr/>
        </p:nvSpPr>
        <p:spPr>
          <a:xfrm>
            <a:off x="571500" y="5534025"/>
            <a:ext cx="438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18282" y="5534025"/>
            <a:ext cx="1733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Additional Features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18282" y="5838825"/>
            <a:ext cx="1704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Enhanced functionality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43650" y="5381625"/>
            <a:ext cx="5467350" cy="1095375"/>
          </a:xfrm>
          <a:custGeom>
            <a:avLst/>
            <a:gdLst/>
            <a:ahLst/>
            <a:cxnLst/>
            <a:rect l="l" t="t" r="r" b="b"/>
            <a:pathLst>
              <a:path w="5467350" h="1095375">
                <a:moveTo>
                  <a:pt x="0" y="0"/>
                </a:moveTo>
                <a:lnTo>
                  <a:pt x="5467350" y="0"/>
                </a:lnTo>
                <a:lnTo>
                  <a:pt x="546735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40" name="Shape 38"/>
          <p:cNvSpPr/>
          <p:nvPr/>
        </p:nvSpPr>
        <p:spPr>
          <a:xfrm>
            <a:off x="6343650" y="5381625"/>
            <a:ext cx="38100" cy="1095375"/>
          </a:xfrm>
          <a:custGeom>
            <a:avLst/>
            <a:gdLst/>
            <a:ahLst/>
            <a:cxnLst/>
            <a:rect l="l" t="t" r="r" b="b"/>
            <a:pathLst>
              <a:path w="38100" h="1095375">
                <a:moveTo>
                  <a:pt x="0" y="0"/>
                </a:moveTo>
                <a:lnTo>
                  <a:pt x="38100" y="0"/>
                </a:lnTo>
                <a:lnTo>
                  <a:pt x="3810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1" name="Text 39"/>
          <p:cNvSpPr/>
          <p:nvPr/>
        </p:nvSpPr>
        <p:spPr>
          <a:xfrm>
            <a:off x="6515100" y="5534025"/>
            <a:ext cx="438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61584" y="5534025"/>
            <a:ext cx="2390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Limitations and Conclusion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61584" y="5838825"/>
            <a:ext cx="2362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constraints and final assessment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F9FAFB"/>
              </a:gs>
            </a:gsLst>
            <a:lin ang="2700000" scaled="1"/>
          </a:gradFill>
        </p:spPr>
      </p:sp>
      <p:pic>
        <p:nvPicPr>
          <p:cNvPr id="3" name="Image 0" descr="https://kimi-web-img.moonshot.cn/img/as1.ftcdn.net/0cf46baff408f3c73468d839f31dcfeaab869453.jpg"/>
          <p:cNvPicPr>
            <a:picLocks noChangeAspect="1"/>
          </p:cNvPicPr>
          <p:nvPr/>
        </p:nvPicPr>
        <p:blipFill>
          <a:blip r:embed="rId1">
            <a:alphaModFix amt="10000"/>
          </a:blip>
          <a:srcRect t="744" b="74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5" name="Text 2"/>
          <p:cNvSpPr/>
          <p:nvPr/>
        </p:nvSpPr>
        <p:spPr>
          <a:xfrm>
            <a:off x="381000" y="2057400"/>
            <a:ext cx="120396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8B0000">
                    <a:alpha val="2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429000"/>
            <a:ext cx="1171575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229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Text 5"/>
          <p:cNvSpPr/>
          <p:nvPr/>
        </p:nvSpPr>
        <p:spPr>
          <a:xfrm>
            <a:off x="381000" y="4495800"/>
            <a:ext cx="1154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Overview of the Hall Booking Management System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1.1 System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Hall Booking Management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543550" cy="1257300"/>
          </a:xfrm>
          <a:custGeom>
            <a:avLst/>
            <a:gdLst/>
            <a:ahLst/>
            <a:cxnLst/>
            <a:rect l="l" t="t" r="r" b="b"/>
            <a:pathLst>
              <a:path w="5543550" h="1257300">
                <a:moveTo>
                  <a:pt x="0" y="0"/>
                </a:moveTo>
                <a:lnTo>
                  <a:pt x="5543550" y="0"/>
                </a:lnTo>
                <a:lnTo>
                  <a:pt x="55435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Shape 4"/>
          <p:cNvSpPr/>
          <p:nvPr/>
        </p:nvSpPr>
        <p:spPr>
          <a:xfrm>
            <a:off x="657225" y="14859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847725" y="1447800"/>
            <a:ext cx="5000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Application Type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1828800"/>
            <a:ext cx="52197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Java desktop GUI application developed by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Hall Symphony Inc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supporting four distinct user roles with separate dashboards and role-specific features.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2667000"/>
            <a:ext cx="5543550" cy="1600200"/>
          </a:xfrm>
          <a:custGeom>
            <a:avLst/>
            <a:gdLst/>
            <a:ahLst/>
            <a:cxnLst/>
            <a:rect l="l" t="t" r="r" b="b"/>
            <a:pathLst>
              <a:path w="5543550" h="1600200">
                <a:moveTo>
                  <a:pt x="0" y="0"/>
                </a:moveTo>
                <a:lnTo>
                  <a:pt x="5543550" y="0"/>
                </a:lnTo>
                <a:lnTo>
                  <a:pt x="554355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0" name="Shape 8"/>
          <p:cNvSpPr/>
          <p:nvPr/>
        </p:nvSpPr>
        <p:spPr>
          <a:xfrm>
            <a:off x="400050" y="26670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Shape 9"/>
          <p:cNvSpPr/>
          <p:nvPr/>
        </p:nvSpPr>
        <p:spPr>
          <a:xfrm>
            <a:off x="633413" y="2895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Text 10"/>
          <p:cNvSpPr/>
          <p:nvPr/>
        </p:nvSpPr>
        <p:spPr>
          <a:xfrm>
            <a:off x="847725" y="2857500"/>
            <a:ext cx="5000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3238500"/>
            <a:ext cx="5219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GUI Framework: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Java Swing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" y="3543300"/>
            <a:ext cx="5219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Storage: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Plain text files (CSV format)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848100"/>
            <a:ext cx="5219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Architecture: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Object-Oriented Design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7450" y="1257300"/>
            <a:ext cx="5543550" cy="1333500"/>
          </a:xfrm>
          <a:custGeom>
            <a:avLst/>
            <a:gdLst/>
            <a:ahLst/>
            <a:cxnLst/>
            <a:rect l="l" t="t" r="r" b="b"/>
            <a:pathLst>
              <a:path w="5543550" h="1333500">
                <a:moveTo>
                  <a:pt x="0" y="0"/>
                </a:moveTo>
                <a:lnTo>
                  <a:pt x="5543550" y="0"/>
                </a:lnTo>
                <a:lnTo>
                  <a:pt x="554355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7" name="Shape 15"/>
          <p:cNvSpPr/>
          <p:nvPr/>
        </p:nvSpPr>
        <p:spPr>
          <a:xfrm>
            <a:off x="6267450" y="12573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8" name="Shape 16"/>
          <p:cNvSpPr/>
          <p:nvPr/>
        </p:nvSpPr>
        <p:spPr>
          <a:xfrm>
            <a:off x="6477000" y="14859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Text 17"/>
          <p:cNvSpPr/>
          <p:nvPr/>
        </p:nvSpPr>
        <p:spPr>
          <a:xfrm>
            <a:off x="6715125" y="1447800"/>
            <a:ext cx="5000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77000" y="18859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21" name="Text 19"/>
          <p:cNvSpPr/>
          <p:nvPr/>
        </p:nvSpPr>
        <p:spPr>
          <a:xfrm>
            <a:off x="6667500" y="1828800"/>
            <a:ext cx="733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Customer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05900" y="18859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23" name="Text 21"/>
          <p:cNvSpPr/>
          <p:nvPr/>
        </p:nvSpPr>
        <p:spPr>
          <a:xfrm>
            <a:off x="9296400" y="1828800"/>
            <a:ext cx="742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Scheduler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77000" y="2228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6900"/>
          </a:solidFill>
        </p:spPr>
      </p:sp>
      <p:sp>
        <p:nvSpPr>
          <p:cNvPr id="25" name="Text 23"/>
          <p:cNvSpPr/>
          <p:nvPr/>
        </p:nvSpPr>
        <p:spPr>
          <a:xfrm>
            <a:off x="6667500" y="2171700"/>
            <a:ext cx="1019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05900" y="2228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AD46FF"/>
          </a:solidFill>
        </p:spPr>
      </p:sp>
      <p:sp>
        <p:nvSpPr>
          <p:cNvPr id="27" name="Text 25"/>
          <p:cNvSpPr/>
          <p:nvPr/>
        </p:nvSpPr>
        <p:spPr>
          <a:xfrm>
            <a:off x="9296400" y="2171700"/>
            <a:ext cx="647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Manager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67450" y="2743200"/>
            <a:ext cx="5543550" cy="2038350"/>
          </a:xfrm>
          <a:custGeom>
            <a:avLst/>
            <a:gdLst/>
            <a:ahLst/>
            <a:cxnLst/>
            <a:rect l="l" t="t" r="r" b="b"/>
            <a:pathLst>
              <a:path w="5543550" h="2038350">
                <a:moveTo>
                  <a:pt x="0" y="0"/>
                </a:moveTo>
                <a:lnTo>
                  <a:pt x="5543550" y="0"/>
                </a:lnTo>
                <a:lnTo>
                  <a:pt x="5543550" y="2038350"/>
                </a:lnTo>
                <a:lnTo>
                  <a:pt x="0" y="20383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9" name="Shape 27"/>
          <p:cNvSpPr/>
          <p:nvPr/>
        </p:nvSpPr>
        <p:spPr>
          <a:xfrm>
            <a:off x="6267450" y="2743200"/>
            <a:ext cx="38100" cy="2038350"/>
          </a:xfrm>
          <a:custGeom>
            <a:avLst/>
            <a:gdLst/>
            <a:ahLst/>
            <a:cxnLst/>
            <a:rect l="l" t="t" r="r" b="b"/>
            <a:pathLst>
              <a:path w="38100" h="2038350">
                <a:moveTo>
                  <a:pt x="0" y="0"/>
                </a:moveTo>
                <a:lnTo>
                  <a:pt x="38100" y="0"/>
                </a:lnTo>
                <a:lnTo>
                  <a:pt x="38100" y="2038350"/>
                </a:lnTo>
                <a:lnTo>
                  <a:pt x="0" y="20383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0" name="Shape 28"/>
          <p:cNvSpPr/>
          <p:nvPr/>
        </p:nvSpPr>
        <p:spPr>
          <a:xfrm>
            <a:off x="6512719" y="29718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23812"/>
                </a:moveTo>
                <a:lnTo>
                  <a:pt x="130969" y="23812"/>
                </a:lnTo>
                <a:lnTo>
                  <a:pt x="130969" y="178594"/>
                </a:lnTo>
                <a:cubicBezTo>
                  <a:pt x="130969" y="185179"/>
                  <a:pt x="136289" y="190500"/>
                  <a:pt x="142875" y="190500"/>
                </a:cubicBezTo>
                <a:lnTo>
                  <a:pt x="154781" y="190500"/>
                </a:lnTo>
                <a:cubicBezTo>
                  <a:pt x="161367" y="190500"/>
                  <a:pt x="166688" y="185179"/>
                  <a:pt x="166688" y="178594"/>
                </a:cubicBezTo>
                <a:cubicBezTo>
                  <a:pt x="166688" y="172008"/>
                  <a:pt x="161367" y="166688"/>
                  <a:pt x="154781" y="166688"/>
                </a:cubicBezTo>
                <a:lnTo>
                  <a:pt x="154781" y="23812"/>
                </a:lnTo>
                <a:cubicBezTo>
                  <a:pt x="154781" y="10678"/>
                  <a:pt x="144103" y="0"/>
                  <a:pt x="130969" y="0"/>
                </a:cubicBezTo>
                <a:lnTo>
                  <a:pt x="95250" y="0"/>
                </a:lnTo>
                <a:lnTo>
                  <a:pt x="95250" y="0"/>
                </a:lnTo>
                <a:lnTo>
                  <a:pt x="35719" y="0"/>
                </a:lnTo>
                <a:cubicBezTo>
                  <a:pt x="22585" y="0"/>
                  <a:pt x="11906" y="10678"/>
                  <a:pt x="11906" y="23812"/>
                </a:cubicBezTo>
                <a:lnTo>
                  <a:pt x="11906" y="166688"/>
                </a:lnTo>
                <a:cubicBezTo>
                  <a:pt x="5321" y="166688"/>
                  <a:pt x="0" y="172008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95250" y="190500"/>
                </a:lnTo>
                <a:cubicBezTo>
                  <a:pt x="101836" y="190500"/>
                  <a:pt x="107156" y="185179"/>
                  <a:pt x="107156" y="178594"/>
                </a:cubicBezTo>
                <a:lnTo>
                  <a:pt x="107156" y="23812"/>
                </a:lnTo>
                <a:close/>
                <a:moveTo>
                  <a:pt x="59531" y="95250"/>
                </a:moveTo>
                <a:cubicBezTo>
                  <a:pt x="59531" y="88679"/>
                  <a:pt x="64866" y="83344"/>
                  <a:pt x="71438" y="83344"/>
                </a:cubicBezTo>
                <a:cubicBezTo>
                  <a:pt x="78009" y="83344"/>
                  <a:pt x="83344" y="88679"/>
                  <a:pt x="83344" y="95250"/>
                </a:cubicBezTo>
                <a:cubicBezTo>
                  <a:pt x="83344" y="101821"/>
                  <a:pt x="78009" y="107156"/>
                  <a:pt x="71438" y="107156"/>
                </a:cubicBezTo>
                <a:cubicBezTo>
                  <a:pt x="64866" y="107156"/>
                  <a:pt x="59531" y="101821"/>
                  <a:pt x="59531" y="9525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1" name="Text 29"/>
          <p:cNvSpPr/>
          <p:nvPr/>
        </p:nvSpPr>
        <p:spPr>
          <a:xfrm>
            <a:off x="6715125" y="2933700"/>
            <a:ext cx="5000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Hall Types &amp; Operating Hours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77000" y="3586163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  <a:lnTo>
                  <a:pt x="51435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33" name="Text 31"/>
          <p:cNvSpPr/>
          <p:nvPr/>
        </p:nvSpPr>
        <p:spPr>
          <a:xfrm>
            <a:off x="6477000" y="3352800"/>
            <a:ext cx="1466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Auditorium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(1,000 seats)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94975" y="3352800"/>
            <a:ext cx="695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RM 300/hr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77000" y="3938588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  <a:lnTo>
                  <a:pt x="51435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36" name="Text 34"/>
          <p:cNvSpPr/>
          <p:nvPr/>
        </p:nvSpPr>
        <p:spPr>
          <a:xfrm>
            <a:off x="6477000" y="3705225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Banquet Hall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(300 seats)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003607" y="3705225"/>
            <a:ext cx="685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RM 100/hr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77000" y="4057650"/>
            <a:ext cx="151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Meeting Rooms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(30 seats)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73854" y="4057650"/>
            <a:ext cx="609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RM 50/hr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96050" y="4429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1" name="Text 39"/>
          <p:cNvSpPr/>
          <p:nvPr/>
        </p:nvSpPr>
        <p:spPr>
          <a:xfrm>
            <a:off x="6648450" y="4400550"/>
            <a:ext cx="503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Operating Hours: 8:00 AM - 6:00 PM Daily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F9FAFB"/>
              </a:gs>
            </a:gsLst>
            <a:lin ang="2700000" scaled="1"/>
          </a:gradFill>
        </p:spPr>
      </p:sp>
      <p:pic>
        <p:nvPicPr>
          <p:cNvPr id="3" name="Image 0" descr="https://kimi-web-img.moonshot.cn/img/media.geeksforgeeks.org/b57c0abb2fc8a41504ec3f4ac196f782f1070306.png"/>
          <p:cNvPicPr>
            <a:picLocks noChangeAspect="1"/>
          </p:cNvPicPr>
          <p:nvPr/>
        </p:nvPicPr>
        <p:blipFill>
          <a:blip r:embed="rId1">
            <a:alphaModFix amt="10000"/>
          </a:blip>
          <a:srcRect t="16460" b="1646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5" name="Text 2"/>
          <p:cNvSpPr/>
          <p:nvPr/>
        </p:nvSpPr>
        <p:spPr>
          <a:xfrm>
            <a:off x="381000" y="2057400"/>
            <a:ext cx="120396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8B0000">
                    <a:alpha val="2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429000"/>
            <a:ext cx="1171575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Design Solutions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229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Text 5"/>
          <p:cNvSpPr/>
          <p:nvPr/>
        </p:nvSpPr>
        <p:spPr>
          <a:xfrm>
            <a:off x="381000" y="4495800"/>
            <a:ext cx="1154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UML Design and System Architecture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2.1 Use Case Diagram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Interactions and Actor Roles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0" y="0"/>
                </a:moveTo>
                <a:lnTo>
                  <a:pt x="5581650" y="0"/>
                </a:lnTo>
                <a:lnTo>
                  <a:pt x="558165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</p:spPr>
      </p:sp>
      <p:sp>
        <p:nvSpPr>
          <p:cNvPr id="6" name="Text 4"/>
          <p:cNvSpPr/>
          <p:nvPr/>
        </p:nvSpPr>
        <p:spPr>
          <a:xfrm>
            <a:off x="571500" y="1409700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Scheduler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7526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Monitor hall records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19812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Set hall availability schedules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2098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Set maintenance schedules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4384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Manage assigned issues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933700"/>
            <a:ext cx="5581650" cy="1752600"/>
          </a:xfrm>
          <a:custGeom>
            <a:avLst/>
            <a:gdLst/>
            <a:ahLst/>
            <a:cxnLst/>
            <a:rect l="l" t="t" r="r" b="b"/>
            <a:pathLst>
              <a:path w="5581650" h="1752600">
                <a:moveTo>
                  <a:pt x="0" y="0"/>
                </a:moveTo>
                <a:lnTo>
                  <a:pt x="5581650" y="0"/>
                </a:lnTo>
                <a:lnTo>
                  <a:pt x="558165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2" name="Shape 10"/>
          <p:cNvSpPr/>
          <p:nvPr/>
        </p:nvSpPr>
        <p:spPr>
          <a:xfrm>
            <a:off x="400050" y="29337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2B7FFF"/>
          </a:solidFill>
        </p:spPr>
      </p:sp>
      <p:sp>
        <p:nvSpPr>
          <p:cNvPr id="13" name="Text 11"/>
          <p:cNvSpPr/>
          <p:nvPr/>
        </p:nvSpPr>
        <p:spPr>
          <a:xfrm>
            <a:off x="571500" y="3086100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Customer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34290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Register account &amp; login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6576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Make bookings with payment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38862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View receipts &amp; booking history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41148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Cancel bookings (3 days prior)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" y="43434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Update profile &amp; raise issues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29350" y="1257300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0" y="0"/>
                </a:moveTo>
                <a:lnTo>
                  <a:pt x="5581650" y="0"/>
                </a:lnTo>
                <a:lnTo>
                  <a:pt x="558165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0" name="Shape 18"/>
          <p:cNvSpPr/>
          <p:nvPr/>
        </p:nvSpPr>
        <p:spPr>
          <a:xfrm>
            <a:off x="6229350" y="12573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6900"/>
          </a:solidFill>
        </p:spPr>
      </p:sp>
      <p:sp>
        <p:nvSpPr>
          <p:cNvPr id="21" name="Text 19"/>
          <p:cNvSpPr/>
          <p:nvPr/>
        </p:nvSpPr>
        <p:spPr>
          <a:xfrm>
            <a:off x="6400800" y="1409700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17526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Scheduler Management: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Add, view, filter, edit, delete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19812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Customer Management: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View, filter, block/delete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22098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Booking Overview: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View all bookings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24384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Report Generation: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Summary reports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29350" y="2933700"/>
            <a:ext cx="5581650" cy="1752600"/>
          </a:xfrm>
          <a:custGeom>
            <a:avLst/>
            <a:gdLst/>
            <a:ahLst/>
            <a:cxnLst/>
            <a:rect l="l" t="t" r="r" b="b"/>
            <a:pathLst>
              <a:path w="5581650" h="1752600">
                <a:moveTo>
                  <a:pt x="0" y="0"/>
                </a:moveTo>
                <a:lnTo>
                  <a:pt x="5581650" y="0"/>
                </a:lnTo>
                <a:lnTo>
                  <a:pt x="558165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7" name="Shape 25"/>
          <p:cNvSpPr/>
          <p:nvPr/>
        </p:nvSpPr>
        <p:spPr>
          <a:xfrm>
            <a:off x="6229350" y="29337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AD46FF"/>
          </a:solidFill>
        </p:spPr>
      </p:sp>
      <p:sp>
        <p:nvSpPr>
          <p:cNvPr id="28" name="Text 26"/>
          <p:cNvSpPr/>
          <p:nvPr/>
        </p:nvSpPr>
        <p:spPr>
          <a:xfrm>
            <a:off x="6400800" y="3086100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Manager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0" y="34290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Sales Dashboard: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Weekly/monthly/yearly views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0" y="36576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Maintenance Operations: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View &amp; manage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38862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Issue Management: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View customer issues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0" y="41148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Response &amp; Assignment: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Respond &amp; assign to Scheduler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0" y="4343400"/>
            <a:ext cx="532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Status Changes: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Update issue status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2.2 Use Case Diagram Visualization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 Case Diagram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5966371"/>
            <a:ext cx="11410950" cy="514350"/>
          </a:xfrm>
          <a:custGeom>
            <a:avLst/>
            <a:gdLst/>
            <a:ahLst/>
            <a:cxnLst/>
            <a:rect l="l" t="t" r="r" b="b"/>
            <a:pathLst>
              <a:path w="11410950" h="514350">
                <a:moveTo>
                  <a:pt x="0" y="0"/>
                </a:moveTo>
                <a:lnTo>
                  <a:pt x="11410950" y="0"/>
                </a:lnTo>
                <a:lnTo>
                  <a:pt x="114109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0" name="Shape 8"/>
          <p:cNvSpPr/>
          <p:nvPr/>
        </p:nvSpPr>
        <p:spPr>
          <a:xfrm>
            <a:off x="400050" y="5966371"/>
            <a:ext cx="38100" cy="514350"/>
          </a:xfrm>
          <a:custGeom>
            <a:avLst/>
            <a:gdLst/>
            <a:ahLst/>
            <a:cxnLst/>
            <a:rect l="l" t="t" r="r" b="b"/>
            <a:pathLst>
              <a:path w="38100" h="514350">
                <a:moveTo>
                  <a:pt x="0" y="0"/>
                </a:moveTo>
                <a:lnTo>
                  <a:pt x="38100" y="0"/>
                </a:lnTo>
                <a:lnTo>
                  <a:pt x="3810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Text 9"/>
          <p:cNvSpPr/>
          <p:nvPr/>
        </p:nvSpPr>
        <p:spPr>
          <a:xfrm>
            <a:off x="537210" y="6118771"/>
            <a:ext cx="1115568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Figure 1:</a:t>
            </a:r>
            <a:r>
              <a:rPr lang="en-US" sz="108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Use Case Diagram showing system interactions between four user roles and the Hall Booking Management System</a:t>
            </a:r>
            <a:endParaRPr lang="en-US" sz="1600" dirty="0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9250" y="1016635"/>
            <a:ext cx="6355080" cy="50679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2.3 Class Diagram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 Layer Structure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7524750" cy="1524000"/>
          </a:xfrm>
          <a:custGeom>
            <a:avLst/>
            <a:gdLst/>
            <a:ahLst/>
            <a:cxnLst/>
            <a:rect l="l" t="t" r="r" b="b"/>
            <a:pathLst>
              <a:path w="7524750" h="1524000">
                <a:moveTo>
                  <a:pt x="0" y="0"/>
                </a:moveTo>
                <a:lnTo>
                  <a:pt x="7524750" y="0"/>
                </a:lnTo>
                <a:lnTo>
                  <a:pt x="752475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609600" y="1447800"/>
            <a:ext cx="7219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Abstract Base Class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" y="1828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Shape 6"/>
          <p:cNvSpPr/>
          <p:nvPr/>
        </p:nvSpPr>
        <p:spPr>
          <a:xfrm>
            <a:off x="754856" y="1962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1181100" y="1828800"/>
            <a:ext cx="1152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2095500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Abstract base class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400300"/>
            <a:ext cx="7191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Defines common attributes and methods for all user types. Cannot be instantiated directly.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2933700"/>
            <a:ext cx="7524750" cy="2362200"/>
          </a:xfrm>
          <a:custGeom>
            <a:avLst/>
            <a:gdLst/>
            <a:ahLst/>
            <a:cxnLst/>
            <a:rect l="l" t="t" r="r" b="b"/>
            <a:pathLst>
              <a:path w="7524750" h="2362200">
                <a:moveTo>
                  <a:pt x="0" y="0"/>
                </a:moveTo>
                <a:lnTo>
                  <a:pt x="7524750" y="0"/>
                </a:lnTo>
                <a:lnTo>
                  <a:pt x="75247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3" name="Shape 11"/>
          <p:cNvSpPr/>
          <p:nvPr/>
        </p:nvSpPr>
        <p:spPr>
          <a:xfrm>
            <a:off x="400050" y="2933700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Text 12"/>
          <p:cNvSpPr/>
          <p:nvPr/>
        </p:nvSpPr>
        <p:spPr>
          <a:xfrm>
            <a:off x="609600" y="3124200"/>
            <a:ext cx="7219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Core Business Objects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4363" y="3509963"/>
            <a:ext cx="2286000" cy="733425"/>
          </a:xfrm>
          <a:custGeom>
            <a:avLst/>
            <a:gdLst/>
            <a:ahLst/>
            <a:cxnLst/>
            <a:rect l="l" t="t" r="r" b="b"/>
            <a:pathLst>
              <a:path w="2286000" h="733425">
                <a:moveTo>
                  <a:pt x="76203" y="0"/>
                </a:moveTo>
                <a:lnTo>
                  <a:pt x="2209797" y="0"/>
                </a:lnTo>
                <a:cubicBezTo>
                  <a:pt x="2251855" y="0"/>
                  <a:pt x="2286000" y="34145"/>
                  <a:pt x="2286000" y="76203"/>
                </a:cubicBezTo>
                <a:lnTo>
                  <a:pt x="2286000" y="657222"/>
                </a:lnTo>
                <a:cubicBezTo>
                  <a:pt x="2286000" y="699280"/>
                  <a:pt x="2251855" y="733425"/>
                  <a:pt x="22097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58838" y="36290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28588" y="28575"/>
                </a:moveTo>
                <a:lnTo>
                  <a:pt x="157163" y="28575"/>
                </a:lnTo>
                <a:lnTo>
                  <a:pt x="157163" y="214313"/>
                </a:lnTo>
                <a:cubicBezTo>
                  <a:pt x="157163" y="222215"/>
                  <a:pt x="163547" y="228600"/>
                  <a:pt x="171450" y="228600"/>
                </a:cubicBezTo>
                <a:lnTo>
                  <a:pt x="185738" y="228600"/>
                </a:lnTo>
                <a:cubicBezTo>
                  <a:pt x="193640" y="228600"/>
                  <a:pt x="200025" y="222215"/>
                  <a:pt x="200025" y="214313"/>
                </a:cubicBezTo>
                <a:cubicBezTo>
                  <a:pt x="200025" y="206410"/>
                  <a:pt x="193640" y="200025"/>
                  <a:pt x="185738" y="200025"/>
                </a:cubicBezTo>
                <a:lnTo>
                  <a:pt x="185738" y="28575"/>
                </a:lnTo>
                <a:cubicBezTo>
                  <a:pt x="185738" y="12814"/>
                  <a:pt x="172923" y="0"/>
                  <a:pt x="157163" y="0"/>
                </a:cubicBezTo>
                <a:lnTo>
                  <a:pt x="114300" y="0"/>
                </a:lnTo>
                <a:lnTo>
                  <a:pt x="114300" y="0"/>
                </a:lnTo>
                <a:lnTo>
                  <a:pt x="42863" y="0"/>
                </a:lnTo>
                <a:cubicBezTo>
                  <a:pt x="27102" y="0"/>
                  <a:pt x="14288" y="12814"/>
                  <a:pt x="14288" y="28575"/>
                </a:cubicBezTo>
                <a:lnTo>
                  <a:pt x="14288" y="200025"/>
                </a:lnTo>
                <a:cubicBezTo>
                  <a:pt x="6385" y="200025"/>
                  <a:pt x="0" y="206410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114300" y="228600"/>
                </a:lnTo>
                <a:cubicBezTo>
                  <a:pt x="122203" y="228600"/>
                  <a:pt x="128588" y="222215"/>
                  <a:pt x="128588" y="214313"/>
                </a:cubicBezTo>
                <a:lnTo>
                  <a:pt x="128588" y="28575"/>
                </a:lnTo>
                <a:close/>
                <a:moveTo>
                  <a:pt x="71438" y="114300"/>
                </a:moveTo>
                <a:cubicBezTo>
                  <a:pt x="71438" y="106415"/>
                  <a:pt x="77840" y="100013"/>
                  <a:pt x="85725" y="100013"/>
                </a:cubicBezTo>
                <a:cubicBezTo>
                  <a:pt x="93610" y="100013"/>
                  <a:pt x="100013" y="106415"/>
                  <a:pt x="100013" y="114300"/>
                </a:cubicBezTo>
                <a:cubicBezTo>
                  <a:pt x="100013" y="122185"/>
                  <a:pt x="93610" y="128588"/>
                  <a:pt x="85725" y="128588"/>
                </a:cubicBezTo>
                <a:cubicBezTo>
                  <a:pt x="77840" y="128588"/>
                  <a:pt x="71438" y="122185"/>
                  <a:pt x="71438" y="11430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7" name="Text 15"/>
          <p:cNvSpPr/>
          <p:nvPr/>
        </p:nvSpPr>
        <p:spPr>
          <a:xfrm>
            <a:off x="700088" y="3933825"/>
            <a:ext cx="2114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Hall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027313" y="3509963"/>
            <a:ext cx="2286000" cy="733425"/>
          </a:xfrm>
          <a:custGeom>
            <a:avLst/>
            <a:gdLst/>
            <a:ahLst/>
            <a:cxnLst/>
            <a:rect l="l" t="t" r="r" b="b"/>
            <a:pathLst>
              <a:path w="2286000" h="733425">
                <a:moveTo>
                  <a:pt x="76203" y="0"/>
                </a:moveTo>
                <a:lnTo>
                  <a:pt x="2209797" y="0"/>
                </a:lnTo>
                <a:cubicBezTo>
                  <a:pt x="2251855" y="0"/>
                  <a:pt x="2286000" y="34145"/>
                  <a:pt x="2286000" y="76203"/>
                </a:cubicBezTo>
                <a:lnTo>
                  <a:pt x="2286000" y="657222"/>
                </a:lnTo>
                <a:cubicBezTo>
                  <a:pt x="2286000" y="699280"/>
                  <a:pt x="2251855" y="733425"/>
                  <a:pt x="22097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71789" y="36290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137696" y="102111"/>
                </a:moveTo>
                <a:cubicBezTo>
                  <a:pt x="140821" y="97110"/>
                  <a:pt x="139303" y="90502"/>
                  <a:pt x="134302" y="87332"/>
                </a:cubicBezTo>
                <a:cubicBezTo>
                  <a:pt x="129302" y="84162"/>
                  <a:pt x="122694" y="85725"/>
                  <a:pt x="119524" y="90726"/>
                </a:cubicBezTo>
                <a:lnTo>
                  <a:pt x="92110" y="134615"/>
                </a:lnTo>
                <a:lnTo>
                  <a:pt x="80055" y="118542"/>
                </a:lnTo>
                <a:cubicBezTo>
                  <a:pt x="76483" y="113809"/>
                  <a:pt x="69786" y="112827"/>
                  <a:pt x="65053" y="116398"/>
                </a:cubicBezTo>
                <a:cubicBezTo>
                  <a:pt x="60320" y="119970"/>
                  <a:pt x="59338" y="126668"/>
                  <a:pt x="62910" y="131400"/>
                </a:cubicBezTo>
                <a:lnTo>
                  <a:pt x="84341" y="159975"/>
                </a:lnTo>
                <a:cubicBezTo>
                  <a:pt x="86439" y="162788"/>
                  <a:pt x="89833" y="164396"/>
                  <a:pt x="93360" y="164262"/>
                </a:cubicBezTo>
                <a:cubicBezTo>
                  <a:pt x="96887" y="164128"/>
                  <a:pt x="100102" y="162252"/>
                  <a:pt x="101977" y="159216"/>
                </a:cubicBezTo>
                <a:lnTo>
                  <a:pt x="137696" y="102066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0" name="Text 18"/>
          <p:cNvSpPr/>
          <p:nvPr/>
        </p:nvSpPr>
        <p:spPr>
          <a:xfrm>
            <a:off x="3113038" y="3933825"/>
            <a:ext cx="2114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Booking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40263" y="3509963"/>
            <a:ext cx="2286000" cy="733425"/>
          </a:xfrm>
          <a:custGeom>
            <a:avLst/>
            <a:gdLst/>
            <a:ahLst/>
            <a:cxnLst/>
            <a:rect l="l" t="t" r="r" b="b"/>
            <a:pathLst>
              <a:path w="2286000" h="733425">
                <a:moveTo>
                  <a:pt x="76203" y="0"/>
                </a:moveTo>
                <a:lnTo>
                  <a:pt x="2209797" y="0"/>
                </a:lnTo>
                <a:cubicBezTo>
                  <a:pt x="2251855" y="0"/>
                  <a:pt x="2286000" y="34145"/>
                  <a:pt x="2286000" y="76203"/>
                </a:cubicBezTo>
                <a:lnTo>
                  <a:pt x="2286000" y="657222"/>
                </a:lnTo>
                <a:cubicBezTo>
                  <a:pt x="2286000" y="699280"/>
                  <a:pt x="2251855" y="733425"/>
                  <a:pt x="22097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0452" y="3629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57150"/>
                </a:moveTo>
                <a:lnTo>
                  <a:pt x="0" y="71438"/>
                </a:lnTo>
                <a:lnTo>
                  <a:pt x="228600" y="71438"/>
                </a:ln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ubicBezTo>
                  <a:pt x="12814" y="28575"/>
                  <a:pt x="0" y="41389"/>
                  <a:pt x="0" y="57150"/>
                </a:cubicBezTo>
                <a:close/>
                <a:moveTo>
                  <a:pt x="0" y="92869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92869"/>
                </a:lnTo>
                <a:lnTo>
                  <a:pt x="0" y="92869"/>
                </a:lnTo>
                <a:close/>
                <a:moveTo>
                  <a:pt x="28575" y="160734"/>
                </a:moveTo>
                <a:cubicBezTo>
                  <a:pt x="28575" y="154796"/>
                  <a:pt x="33352" y="150019"/>
                  <a:pt x="39291" y="150019"/>
                </a:cubicBezTo>
                <a:lnTo>
                  <a:pt x="60722" y="150019"/>
                </a:lnTo>
                <a:cubicBezTo>
                  <a:pt x="66660" y="150019"/>
                  <a:pt x="71438" y="154796"/>
                  <a:pt x="71438" y="160734"/>
                </a:cubicBezTo>
                <a:cubicBezTo>
                  <a:pt x="71438" y="166673"/>
                  <a:pt x="66660" y="171450"/>
                  <a:pt x="60722" y="171450"/>
                </a:cubicBezTo>
                <a:lnTo>
                  <a:pt x="39291" y="171450"/>
                </a:lnTo>
                <a:cubicBezTo>
                  <a:pt x="33352" y="171450"/>
                  <a:pt x="28575" y="166673"/>
                  <a:pt x="28575" y="160734"/>
                </a:cubicBezTo>
                <a:close/>
                <a:moveTo>
                  <a:pt x="92869" y="160734"/>
                </a:moveTo>
                <a:cubicBezTo>
                  <a:pt x="92869" y="154796"/>
                  <a:pt x="97646" y="150019"/>
                  <a:pt x="103584" y="150019"/>
                </a:cubicBez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103584" y="171450"/>
                </a:lnTo>
                <a:cubicBezTo>
                  <a:pt x="97646" y="171450"/>
                  <a:pt x="92869" y="166673"/>
                  <a:pt x="92869" y="16073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3" name="Text 21"/>
          <p:cNvSpPr/>
          <p:nvPr/>
        </p:nvSpPr>
        <p:spPr>
          <a:xfrm>
            <a:off x="5525988" y="3933825"/>
            <a:ext cx="2114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Payment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4363" y="4367213"/>
            <a:ext cx="2286000" cy="733425"/>
          </a:xfrm>
          <a:custGeom>
            <a:avLst/>
            <a:gdLst/>
            <a:ahLst/>
            <a:cxnLst/>
            <a:rect l="l" t="t" r="r" b="b"/>
            <a:pathLst>
              <a:path w="2286000" h="733425">
                <a:moveTo>
                  <a:pt x="76203" y="0"/>
                </a:moveTo>
                <a:lnTo>
                  <a:pt x="2209797" y="0"/>
                </a:lnTo>
                <a:cubicBezTo>
                  <a:pt x="2251855" y="0"/>
                  <a:pt x="2286000" y="34145"/>
                  <a:pt x="2286000" y="76203"/>
                </a:cubicBezTo>
                <a:lnTo>
                  <a:pt x="2286000" y="657222"/>
                </a:lnTo>
                <a:cubicBezTo>
                  <a:pt x="2286000" y="699280"/>
                  <a:pt x="2251855" y="733425"/>
                  <a:pt x="22097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4551" y="4486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6" name="Text 24"/>
          <p:cNvSpPr/>
          <p:nvPr/>
        </p:nvSpPr>
        <p:spPr>
          <a:xfrm>
            <a:off x="700088" y="4791075"/>
            <a:ext cx="2114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Issue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027313" y="4367213"/>
            <a:ext cx="2286000" cy="733425"/>
          </a:xfrm>
          <a:custGeom>
            <a:avLst/>
            <a:gdLst/>
            <a:ahLst/>
            <a:cxnLst/>
            <a:rect l="l" t="t" r="r" b="b"/>
            <a:pathLst>
              <a:path w="2286000" h="733425">
                <a:moveTo>
                  <a:pt x="76203" y="0"/>
                </a:moveTo>
                <a:lnTo>
                  <a:pt x="2209797" y="0"/>
                </a:lnTo>
                <a:cubicBezTo>
                  <a:pt x="2251855" y="0"/>
                  <a:pt x="2286000" y="34145"/>
                  <a:pt x="2286000" y="76203"/>
                </a:cubicBezTo>
                <a:lnTo>
                  <a:pt x="2286000" y="657222"/>
                </a:lnTo>
                <a:cubicBezTo>
                  <a:pt x="2286000" y="699280"/>
                  <a:pt x="2251855" y="733425"/>
                  <a:pt x="22097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7501" y="4486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9" name="Text 27"/>
          <p:cNvSpPr/>
          <p:nvPr/>
        </p:nvSpPr>
        <p:spPr>
          <a:xfrm>
            <a:off x="3113038" y="4791075"/>
            <a:ext cx="2114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Schedule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72450" y="1257300"/>
            <a:ext cx="3638550" cy="2438400"/>
          </a:xfrm>
          <a:custGeom>
            <a:avLst/>
            <a:gdLst/>
            <a:ahLst/>
            <a:cxnLst/>
            <a:rect l="l" t="t" r="r" b="b"/>
            <a:pathLst>
              <a:path w="3638550" h="2438400">
                <a:moveTo>
                  <a:pt x="0" y="0"/>
                </a:moveTo>
                <a:lnTo>
                  <a:pt x="3638550" y="0"/>
                </a:lnTo>
                <a:lnTo>
                  <a:pt x="3638550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31" name="Shape 29"/>
          <p:cNvSpPr/>
          <p:nvPr/>
        </p:nvSpPr>
        <p:spPr>
          <a:xfrm>
            <a:off x="8172450" y="1257300"/>
            <a:ext cx="38100" cy="2438400"/>
          </a:xfrm>
          <a:custGeom>
            <a:avLst/>
            <a:gdLst/>
            <a:ahLst/>
            <a:cxnLst/>
            <a:rect l="l" t="t" r="r" b="b"/>
            <a:pathLst>
              <a:path w="38100" h="2438400">
                <a:moveTo>
                  <a:pt x="0" y="0"/>
                </a:moveTo>
                <a:lnTo>
                  <a:pt x="38100" y="0"/>
                </a:lnTo>
                <a:lnTo>
                  <a:pt x="38100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2" name="Text 30"/>
          <p:cNvSpPr/>
          <p:nvPr/>
        </p:nvSpPr>
        <p:spPr>
          <a:xfrm>
            <a:off x="8382000" y="1447800"/>
            <a:ext cx="3333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User Subclasses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86763" y="1833563"/>
            <a:ext cx="3228975" cy="352425"/>
          </a:xfrm>
          <a:custGeom>
            <a:avLst/>
            <a:gdLst/>
            <a:ahLst/>
            <a:cxnLst/>
            <a:rect l="l" t="t" r="r" b="b"/>
            <a:pathLst>
              <a:path w="3228975" h="352425">
                <a:moveTo>
                  <a:pt x="38101" y="0"/>
                </a:moveTo>
                <a:lnTo>
                  <a:pt x="3190874" y="0"/>
                </a:lnTo>
                <a:cubicBezTo>
                  <a:pt x="3211917" y="0"/>
                  <a:pt x="3228975" y="17058"/>
                  <a:pt x="3228975" y="38101"/>
                </a:cubicBezTo>
                <a:lnTo>
                  <a:pt x="3228975" y="314324"/>
                </a:lnTo>
                <a:cubicBezTo>
                  <a:pt x="3228975" y="335367"/>
                  <a:pt x="3211917" y="352425"/>
                  <a:pt x="319087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67725" y="19526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35" name="Text 33"/>
          <p:cNvSpPr/>
          <p:nvPr/>
        </p:nvSpPr>
        <p:spPr>
          <a:xfrm>
            <a:off x="8658225" y="1914525"/>
            <a:ext cx="647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Customer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86763" y="2271713"/>
            <a:ext cx="3228975" cy="352425"/>
          </a:xfrm>
          <a:custGeom>
            <a:avLst/>
            <a:gdLst/>
            <a:ahLst/>
            <a:cxnLst/>
            <a:rect l="l" t="t" r="r" b="b"/>
            <a:pathLst>
              <a:path w="3228975" h="352425">
                <a:moveTo>
                  <a:pt x="38101" y="0"/>
                </a:moveTo>
                <a:lnTo>
                  <a:pt x="3190874" y="0"/>
                </a:lnTo>
                <a:cubicBezTo>
                  <a:pt x="3211917" y="0"/>
                  <a:pt x="3228975" y="17058"/>
                  <a:pt x="3228975" y="38101"/>
                </a:cubicBezTo>
                <a:lnTo>
                  <a:pt x="3228975" y="314324"/>
                </a:lnTo>
                <a:cubicBezTo>
                  <a:pt x="3228975" y="335367"/>
                  <a:pt x="3211917" y="352425"/>
                  <a:pt x="319087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67725" y="23907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38" name="Text 36"/>
          <p:cNvSpPr/>
          <p:nvPr/>
        </p:nvSpPr>
        <p:spPr>
          <a:xfrm>
            <a:off x="8658225" y="2352675"/>
            <a:ext cx="647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Scheduler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86763" y="2709863"/>
            <a:ext cx="3228975" cy="352425"/>
          </a:xfrm>
          <a:custGeom>
            <a:avLst/>
            <a:gdLst/>
            <a:ahLst/>
            <a:cxnLst/>
            <a:rect l="l" t="t" r="r" b="b"/>
            <a:pathLst>
              <a:path w="3228975" h="352425">
                <a:moveTo>
                  <a:pt x="38101" y="0"/>
                </a:moveTo>
                <a:lnTo>
                  <a:pt x="3190874" y="0"/>
                </a:lnTo>
                <a:cubicBezTo>
                  <a:pt x="3211917" y="0"/>
                  <a:pt x="3228975" y="17058"/>
                  <a:pt x="3228975" y="38101"/>
                </a:cubicBezTo>
                <a:lnTo>
                  <a:pt x="3228975" y="314324"/>
                </a:lnTo>
                <a:cubicBezTo>
                  <a:pt x="3228975" y="335367"/>
                  <a:pt x="3211917" y="352425"/>
                  <a:pt x="319087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67725" y="28289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6900"/>
          </a:solidFill>
        </p:spPr>
      </p:sp>
      <p:sp>
        <p:nvSpPr>
          <p:cNvPr id="41" name="Text 39"/>
          <p:cNvSpPr/>
          <p:nvPr/>
        </p:nvSpPr>
        <p:spPr>
          <a:xfrm>
            <a:off x="8658225" y="2790825"/>
            <a:ext cx="895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86763" y="3148013"/>
            <a:ext cx="3228975" cy="352425"/>
          </a:xfrm>
          <a:custGeom>
            <a:avLst/>
            <a:gdLst/>
            <a:ahLst/>
            <a:cxnLst/>
            <a:rect l="l" t="t" r="r" b="b"/>
            <a:pathLst>
              <a:path w="3228975" h="352425">
                <a:moveTo>
                  <a:pt x="38101" y="0"/>
                </a:moveTo>
                <a:lnTo>
                  <a:pt x="3190874" y="0"/>
                </a:lnTo>
                <a:cubicBezTo>
                  <a:pt x="3211917" y="0"/>
                  <a:pt x="3228975" y="17058"/>
                  <a:pt x="3228975" y="38101"/>
                </a:cubicBezTo>
                <a:lnTo>
                  <a:pt x="3228975" y="314324"/>
                </a:lnTo>
                <a:cubicBezTo>
                  <a:pt x="3228975" y="335367"/>
                  <a:pt x="3211917" y="352425"/>
                  <a:pt x="319087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67725" y="32670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AD46FF"/>
          </a:solidFill>
        </p:spPr>
      </p:sp>
      <p:sp>
        <p:nvSpPr>
          <p:cNvPr id="44" name="Text 42"/>
          <p:cNvSpPr/>
          <p:nvPr/>
        </p:nvSpPr>
        <p:spPr>
          <a:xfrm>
            <a:off x="8658225" y="3228975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Manager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72450" y="3848100"/>
            <a:ext cx="3638550" cy="1657350"/>
          </a:xfrm>
          <a:custGeom>
            <a:avLst/>
            <a:gdLst/>
            <a:ahLst/>
            <a:cxnLst/>
            <a:rect l="l" t="t" r="r" b="b"/>
            <a:pathLst>
              <a:path w="3638550" h="1657350">
                <a:moveTo>
                  <a:pt x="0" y="0"/>
                </a:moveTo>
                <a:lnTo>
                  <a:pt x="3638550" y="0"/>
                </a:lnTo>
                <a:lnTo>
                  <a:pt x="3638550" y="1657350"/>
                </a:lnTo>
                <a:lnTo>
                  <a:pt x="0" y="16573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46" name="Shape 44"/>
          <p:cNvSpPr/>
          <p:nvPr/>
        </p:nvSpPr>
        <p:spPr>
          <a:xfrm>
            <a:off x="8172450" y="3848100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0" y="16573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7" name="Text 45"/>
          <p:cNvSpPr/>
          <p:nvPr/>
        </p:nvSpPr>
        <p:spPr>
          <a:xfrm>
            <a:off x="8382000" y="4038600"/>
            <a:ext cx="3333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Utility Package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86763" y="4424363"/>
            <a:ext cx="3228975" cy="581025"/>
          </a:xfrm>
          <a:custGeom>
            <a:avLst/>
            <a:gdLst/>
            <a:ahLst/>
            <a:cxnLst/>
            <a:rect l="l" t="t" r="r" b="b"/>
            <a:pathLst>
              <a:path w="3228975" h="581025">
                <a:moveTo>
                  <a:pt x="76201" y="0"/>
                </a:moveTo>
                <a:lnTo>
                  <a:pt x="3152774" y="0"/>
                </a:lnTo>
                <a:cubicBezTo>
                  <a:pt x="3194830" y="0"/>
                  <a:pt x="3228975" y="34145"/>
                  <a:pt x="3228975" y="76201"/>
                </a:cubicBezTo>
                <a:lnTo>
                  <a:pt x="3228975" y="504824"/>
                </a:lnTo>
                <a:cubicBezTo>
                  <a:pt x="3228975" y="546880"/>
                  <a:pt x="3194830" y="581025"/>
                  <a:pt x="31527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62975" y="46005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68848" y="131981"/>
                </a:moveTo>
                <a:cubicBezTo>
                  <a:pt x="72688" y="127471"/>
                  <a:pt x="72197" y="120729"/>
                  <a:pt x="67687" y="116890"/>
                </a:cubicBezTo>
                <a:cubicBezTo>
                  <a:pt x="63178" y="113050"/>
                  <a:pt x="56436" y="113541"/>
                  <a:pt x="52596" y="118050"/>
                </a:cubicBezTo>
                <a:lnTo>
                  <a:pt x="31165" y="143054"/>
                </a:lnTo>
                <a:cubicBezTo>
                  <a:pt x="27727" y="147072"/>
                  <a:pt x="27727" y="152966"/>
                  <a:pt x="31165" y="156984"/>
                </a:cubicBezTo>
                <a:lnTo>
                  <a:pt x="52596" y="181987"/>
                </a:lnTo>
                <a:cubicBezTo>
                  <a:pt x="56436" y="186497"/>
                  <a:pt x="63222" y="186988"/>
                  <a:pt x="67687" y="183148"/>
                </a:cubicBezTo>
                <a:cubicBezTo>
                  <a:pt x="72152" y="179308"/>
                  <a:pt x="72688" y="172522"/>
                  <a:pt x="68848" y="168057"/>
                </a:cubicBezTo>
                <a:lnTo>
                  <a:pt x="53400" y="150019"/>
                </a:lnTo>
                <a:lnTo>
                  <a:pt x="68848" y="131981"/>
                </a:lnTo>
                <a:close/>
                <a:moveTo>
                  <a:pt x="118854" y="118050"/>
                </a:moveTo>
                <a:cubicBezTo>
                  <a:pt x="115014" y="113541"/>
                  <a:pt x="108228" y="113050"/>
                  <a:pt x="103763" y="116890"/>
                </a:cubicBezTo>
                <a:cubicBezTo>
                  <a:pt x="99298" y="120729"/>
                  <a:pt x="98762" y="127516"/>
                  <a:pt x="102602" y="131981"/>
                </a:cubicBezTo>
                <a:lnTo>
                  <a:pt x="118050" y="150019"/>
                </a:lnTo>
                <a:lnTo>
                  <a:pt x="102602" y="168057"/>
                </a:lnTo>
                <a:cubicBezTo>
                  <a:pt x="98762" y="172566"/>
                  <a:pt x="99253" y="179308"/>
                  <a:pt x="103763" y="183148"/>
                </a:cubicBezTo>
                <a:cubicBezTo>
                  <a:pt x="108272" y="186988"/>
                  <a:pt x="115014" y="186497"/>
                  <a:pt x="118854" y="181987"/>
                </a:cubicBezTo>
                <a:lnTo>
                  <a:pt x="140285" y="156984"/>
                </a:lnTo>
                <a:cubicBezTo>
                  <a:pt x="143723" y="152966"/>
                  <a:pt x="143723" y="147072"/>
                  <a:pt x="140285" y="143054"/>
                </a:cubicBezTo>
                <a:lnTo>
                  <a:pt x="118854" y="11805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0" name="Text 48"/>
          <p:cNvSpPr/>
          <p:nvPr/>
        </p:nvSpPr>
        <p:spPr>
          <a:xfrm>
            <a:off x="8905875" y="4543425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FileManager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905875" y="4733925"/>
            <a:ext cx="9906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File I/O operations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82000" y="5124450"/>
            <a:ext cx="3305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Used by all GUI classes for data persistence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2.4 Class Relationships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Object Relationships and Associations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581650" cy="1981200"/>
          </a:xfrm>
          <a:custGeom>
            <a:avLst/>
            <a:gdLst/>
            <a:ahLst/>
            <a:cxnLst/>
            <a:rect l="l" t="t" r="r" b="b"/>
            <a:pathLst>
              <a:path w="5581650" h="1981200">
                <a:moveTo>
                  <a:pt x="0" y="0"/>
                </a:moveTo>
                <a:lnTo>
                  <a:pt x="5581650" y="0"/>
                </a:lnTo>
                <a:lnTo>
                  <a:pt x="558165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1981200"/>
          </a:xfrm>
          <a:custGeom>
            <a:avLst/>
            <a:gdLst/>
            <a:ahLst/>
            <a:cxnLst/>
            <a:rect l="l" t="t" r="r" b="b"/>
            <a:pathLst>
              <a:path w="38100" h="1981200">
                <a:moveTo>
                  <a:pt x="0" y="0"/>
                </a:moveTo>
                <a:lnTo>
                  <a:pt x="38100" y="0"/>
                </a:lnTo>
                <a:lnTo>
                  <a:pt x="381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Shape 4"/>
          <p:cNvSpPr/>
          <p:nvPr/>
        </p:nvSpPr>
        <p:spPr>
          <a:xfrm>
            <a:off x="633413" y="1485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847725" y="1447800"/>
            <a:ext cx="503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1828800"/>
            <a:ext cx="504825" cy="266700"/>
          </a:xfrm>
          <a:custGeom>
            <a:avLst/>
            <a:gdLst/>
            <a:ahLst/>
            <a:cxnLst/>
            <a:rect l="l" t="t" r="r" b="b"/>
            <a:pathLst>
              <a:path w="504825" h="266700">
                <a:moveTo>
                  <a:pt x="38101" y="0"/>
                </a:moveTo>
                <a:lnTo>
                  <a:pt x="466724" y="0"/>
                </a:lnTo>
                <a:cubicBezTo>
                  <a:pt x="487767" y="0"/>
                  <a:pt x="504825" y="17058"/>
                  <a:pt x="504825" y="38101"/>
                </a:cubicBezTo>
                <a:lnTo>
                  <a:pt x="504825" y="228599"/>
                </a:lnTo>
                <a:cubicBezTo>
                  <a:pt x="504825" y="249628"/>
                  <a:pt x="487753" y="266700"/>
                  <a:pt x="4667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Text 7"/>
          <p:cNvSpPr/>
          <p:nvPr/>
        </p:nvSpPr>
        <p:spPr>
          <a:xfrm>
            <a:off x="609600" y="1828800"/>
            <a:ext cx="57150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25748" y="18859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Shape 9"/>
          <p:cNvSpPr/>
          <p:nvPr/>
        </p:nvSpPr>
        <p:spPr>
          <a:xfrm>
            <a:off x="609600" y="2209800"/>
            <a:ext cx="2552700" cy="228600"/>
          </a:xfrm>
          <a:custGeom>
            <a:avLst/>
            <a:gdLst/>
            <a:ahLst/>
            <a:cxnLst/>
            <a:rect l="l" t="t" r="r" b="b"/>
            <a:pathLst>
              <a:path w="2552700" h="228600">
                <a:moveTo>
                  <a:pt x="38101" y="0"/>
                </a:moveTo>
                <a:lnTo>
                  <a:pt x="2514599" y="0"/>
                </a:lnTo>
                <a:cubicBezTo>
                  <a:pt x="2535642" y="0"/>
                  <a:pt x="2552700" y="17058"/>
                  <a:pt x="2552700" y="38101"/>
                </a:cubicBezTo>
                <a:lnTo>
                  <a:pt x="2552700" y="190499"/>
                </a:lnTo>
                <a:cubicBezTo>
                  <a:pt x="2552700" y="211542"/>
                  <a:pt x="2535642" y="228600"/>
                  <a:pt x="25145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BEAFE"/>
          </a:solidFill>
        </p:spPr>
      </p:sp>
      <p:sp>
        <p:nvSpPr>
          <p:cNvPr id="12" name="Text 10"/>
          <p:cNvSpPr/>
          <p:nvPr/>
        </p:nvSpPr>
        <p:spPr>
          <a:xfrm>
            <a:off x="581025" y="2209800"/>
            <a:ext cx="2609850" cy="2286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193CB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Customer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38500" y="2209800"/>
            <a:ext cx="2552700" cy="228600"/>
          </a:xfrm>
          <a:custGeom>
            <a:avLst/>
            <a:gdLst/>
            <a:ahLst/>
            <a:cxnLst/>
            <a:rect l="l" t="t" r="r" b="b"/>
            <a:pathLst>
              <a:path w="2552700" h="228600">
                <a:moveTo>
                  <a:pt x="38101" y="0"/>
                </a:moveTo>
                <a:lnTo>
                  <a:pt x="2514599" y="0"/>
                </a:lnTo>
                <a:cubicBezTo>
                  <a:pt x="2535642" y="0"/>
                  <a:pt x="2552700" y="17058"/>
                  <a:pt x="2552700" y="38101"/>
                </a:cubicBezTo>
                <a:lnTo>
                  <a:pt x="2552700" y="190499"/>
                </a:lnTo>
                <a:cubicBezTo>
                  <a:pt x="2552700" y="211542"/>
                  <a:pt x="2535642" y="228600"/>
                  <a:pt x="25145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CFCE7"/>
          </a:solidFill>
        </p:spPr>
      </p:sp>
      <p:sp>
        <p:nvSpPr>
          <p:cNvPr id="14" name="Text 12"/>
          <p:cNvSpPr/>
          <p:nvPr/>
        </p:nvSpPr>
        <p:spPr>
          <a:xfrm>
            <a:off x="3209925" y="2209800"/>
            <a:ext cx="2609850" cy="2286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Scheduler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2514600"/>
            <a:ext cx="2552700" cy="228600"/>
          </a:xfrm>
          <a:custGeom>
            <a:avLst/>
            <a:gdLst/>
            <a:ahLst/>
            <a:cxnLst/>
            <a:rect l="l" t="t" r="r" b="b"/>
            <a:pathLst>
              <a:path w="2552700" h="228600">
                <a:moveTo>
                  <a:pt x="38101" y="0"/>
                </a:moveTo>
                <a:lnTo>
                  <a:pt x="2514599" y="0"/>
                </a:lnTo>
                <a:cubicBezTo>
                  <a:pt x="2535642" y="0"/>
                  <a:pt x="2552700" y="17058"/>
                  <a:pt x="2552700" y="38101"/>
                </a:cubicBezTo>
                <a:lnTo>
                  <a:pt x="2552700" y="190499"/>
                </a:lnTo>
                <a:cubicBezTo>
                  <a:pt x="2552700" y="211542"/>
                  <a:pt x="2535642" y="228600"/>
                  <a:pt x="25145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EDD4"/>
          </a:solidFill>
        </p:spPr>
      </p:sp>
      <p:sp>
        <p:nvSpPr>
          <p:cNvPr id="16" name="Text 14"/>
          <p:cNvSpPr/>
          <p:nvPr/>
        </p:nvSpPr>
        <p:spPr>
          <a:xfrm>
            <a:off x="581025" y="2514600"/>
            <a:ext cx="2609850" cy="2286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9F2D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38500" y="2514600"/>
            <a:ext cx="2552700" cy="228600"/>
          </a:xfrm>
          <a:custGeom>
            <a:avLst/>
            <a:gdLst/>
            <a:ahLst/>
            <a:cxnLst/>
            <a:rect l="l" t="t" r="r" b="b"/>
            <a:pathLst>
              <a:path w="2552700" h="228600">
                <a:moveTo>
                  <a:pt x="38101" y="0"/>
                </a:moveTo>
                <a:lnTo>
                  <a:pt x="2514599" y="0"/>
                </a:lnTo>
                <a:cubicBezTo>
                  <a:pt x="2535642" y="0"/>
                  <a:pt x="2552700" y="17058"/>
                  <a:pt x="2552700" y="38101"/>
                </a:cubicBezTo>
                <a:lnTo>
                  <a:pt x="2552700" y="190499"/>
                </a:lnTo>
                <a:cubicBezTo>
                  <a:pt x="2552700" y="211542"/>
                  <a:pt x="2535642" y="228600"/>
                  <a:pt x="25145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3E8FF"/>
          </a:solidFill>
        </p:spPr>
      </p:sp>
      <p:sp>
        <p:nvSpPr>
          <p:cNvPr id="18" name="Text 16"/>
          <p:cNvSpPr/>
          <p:nvPr/>
        </p:nvSpPr>
        <p:spPr>
          <a:xfrm>
            <a:off x="3209925" y="2514600"/>
            <a:ext cx="2609850" cy="2286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6E11B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Manager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2857500"/>
            <a:ext cx="5248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"Is-a" relationship: All subclasses inherit from User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3390900"/>
            <a:ext cx="5581650" cy="1943100"/>
          </a:xfrm>
          <a:custGeom>
            <a:avLst/>
            <a:gdLst/>
            <a:ahLst/>
            <a:cxnLst/>
            <a:rect l="l" t="t" r="r" b="b"/>
            <a:pathLst>
              <a:path w="5581650" h="1943100">
                <a:moveTo>
                  <a:pt x="0" y="0"/>
                </a:moveTo>
                <a:lnTo>
                  <a:pt x="5581650" y="0"/>
                </a:lnTo>
                <a:lnTo>
                  <a:pt x="5581650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1" name="Shape 19"/>
          <p:cNvSpPr/>
          <p:nvPr/>
        </p:nvSpPr>
        <p:spPr>
          <a:xfrm>
            <a:off x="400050" y="3390900"/>
            <a:ext cx="38100" cy="1943100"/>
          </a:xfrm>
          <a:custGeom>
            <a:avLst/>
            <a:gdLst/>
            <a:ahLst/>
            <a:cxnLst/>
            <a:rect l="l" t="t" r="r" b="b"/>
            <a:pathLst>
              <a:path w="38100" h="1943100">
                <a:moveTo>
                  <a:pt x="0" y="0"/>
                </a:moveTo>
                <a:lnTo>
                  <a:pt x="38100" y="0"/>
                </a:lnTo>
                <a:lnTo>
                  <a:pt x="38100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Shape 20"/>
          <p:cNvSpPr/>
          <p:nvPr/>
        </p:nvSpPr>
        <p:spPr>
          <a:xfrm>
            <a:off x="621506" y="36195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3" name="Text 21"/>
          <p:cNvSpPr/>
          <p:nvPr/>
        </p:nvSpPr>
        <p:spPr>
          <a:xfrm>
            <a:off x="847725" y="3581400"/>
            <a:ext cx="503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One-to-Many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9600" y="3962400"/>
            <a:ext cx="809625" cy="266700"/>
          </a:xfrm>
          <a:custGeom>
            <a:avLst/>
            <a:gdLst/>
            <a:ahLst/>
            <a:cxnLst/>
            <a:rect l="l" t="t" r="r" b="b"/>
            <a:pathLst>
              <a:path w="809625" h="266700">
                <a:moveTo>
                  <a:pt x="38101" y="0"/>
                </a:moveTo>
                <a:lnTo>
                  <a:pt x="771524" y="0"/>
                </a:lnTo>
                <a:cubicBezTo>
                  <a:pt x="792567" y="0"/>
                  <a:pt x="809625" y="17058"/>
                  <a:pt x="809625" y="38101"/>
                </a:cubicBezTo>
                <a:lnTo>
                  <a:pt x="809625" y="228599"/>
                </a:lnTo>
                <a:cubicBezTo>
                  <a:pt x="809625" y="249628"/>
                  <a:pt x="792553" y="266700"/>
                  <a:pt x="7715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BEAFE"/>
          </a:solidFill>
        </p:spPr>
      </p:sp>
      <p:sp>
        <p:nvSpPr>
          <p:cNvPr id="25" name="Text 23"/>
          <p:cNvSpPr/>
          <p:nvPr/>
        </p:nvSpPr>
        <p:spPr>
          <a:xfrm>
            <a:off x="609600" y="3962400"/>
            <a:ext cx="87630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93CB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Customer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549450" y="4019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121027"/>
                </a:moveTo>
                <a:lnTo>
                  <a:pt x="121027" y="149602"/>
                </a:lnTo>
                <a:cubicBezTo>
                  <a:pt x="118289" y="152340"/>
                  <a:pt x="114211" y="153144"/>
                  <a:pt x="110639" y="151656"/>
                </a:cubicBezTo>
                <a:cubicBezTo>
                  <a:pt x="107067" y="150168"/>
                  <a:pt x="104775" y="146715"/>
                  <a:pt x="104775" y="142875"/>
                </a:cubicBezTo>
                <a:lnTo>
                  <a:pt x="104775" y="123825"/>
                </a:lnTo>
                <a:lnTo>
                  <a:pt x="9525" y="123825"/>
                </a:lnTo>
                <a:cubicBezTo>
                  <a:pt x="4256" y="123825"/>
                  <a:pt x="0" y="119569"/>
                  <a:pt x="0" y="114300"/>
                </a:cubicBezTo>
                <a:cubicBezTo>
                  <a:pt x="0" y="109031"/>
                  <a:pt x="4256" y="104775"/>
                  <a:pt x="9525" y="104775"/>
                </a:cubicBezTo>
                <a:lnTo>
                  <a:pt x="104775" y="104775"/>
                </a:lnTo>
                <a:lnTo>
                  <a:pt x="104775" y="85725"/>
                </a:lnTo>
                <a:cubicBezTo>
                  <a:pt x="104775" y="81885"/>
                  <a:pt x="107097" y="78403"/>
                  <a:pt x="110669" y="76914"/>
                </a:cubicBezTo>
                <a:cubicBezTo>
                  <a:pt x="114240" y="75426"/>
                  <a:pt x="118318" y="76260"/>
                  <a:pt x="121057" y="78968"/>
                </a:cubicBezTo>
                <a:lnTo>
                  <a:pt x="149632" y="107543"/>
                </a:lnTo>
                <a:cubicBezTo>
                  <a:pt x="153353" y="111264"/>
                  <a:pt x="153353" y="117306"/>
                  <a:pt x="149632" y="121027"/>
                </a:cubicBezTo>
                <a:close/>
                <a:moveTo>
                  <a:pt x="2798" y="44827"/>
                </a:moveTo>
                <a:cubicBezTo>
                  <a:pt x="-923" y="41106"/>
                  <a:pt x="-923" y="35064"/>
                  <a:pt x="2798" y="31343"/>
                </a:cubicBezTo>
                <a:lnTo>
                  <a:pt x="31373" y="2768"/>
                </a:lnTo>
                <a:cubicBezTo>
                  <a:pt x="34111" y="30"/>
                  <a:pt x="38189" y="-774"/>
                  <a:pt x="41761" y="714"/>
                </a:cubicBezTo>
                <a:cubicBezTo>
                  <a:pt x="45333" y="2203"/>
                  <a:pt x="47625" y="5685"/>
                  <a:pt x="47625" y="9525"/>
                </a:cubicBezTo>
                <a:lnTo>
                  <a:pt x="47625" y="28575"/>
                </a:lnTo>
                <a:lnTo>
                  <a:pt x="142875" y="28575"/>
                </a:lnTo>
                <a:cubicBezTo>
                  <a:pt x="148144" y="28575"/>
                  <a:pt x="152400" y="32831"/>
                  <a:pt x="152400" y="38100"/>
                </a:cubicBezTo>
                <a:cubicBezTo>
                  <a:pt x="152400" y="43369"/>
                  <a:pt x="148144" y="47625"/>
                  <a:pt x="142875" y="47625"/>
                </a:cubicBezTo>
                <a:lnTo>
                  <a:pt x="47625" y="47625"/>
                </a:lnTo>
                <a:lnTo>
                  <a:pt x="47625" y="66675"/>
                </a:lnTo>
                <a:cubicBezTo>
                  <a:pt x="47625" y="70515"/>
                  <a:pt x="45303" y="73997"/>
                  <a:pt x="41731" y="75486"/>
                </a:cubicBezTo>
                <a:cubicBezTo>
                  <a:pt x="38160" y="76974"/>
                  <a:pt x="34082" y="76140"/>
                  <a:pt x="31343" y="73432"/>
                </a:cubicBezTo>
                <a:lnTo>
                  <a:pt x="2768" y="448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7" name="Shape 25"/>
          <p:cNvSpPr/>
          <p:nvPr/>
        </p:nvSpPr>
        <p:spPr>
          <a:xfrm>
            <a:off x="1835200" y="3962400"/>
            <a:ext cx="714375" cy="266700"/>
          </a:xfrm>
          <a:custGeom>
            <a:avLst/>
            <a:gdLst/>
            <a:ahLst/>
            <a:cxnLst/>
            <a:rect l="l" t="t" r="r" b="b"/>
            <a:pathLst>
              <a:path w="714375" h="266700">
                <a:moveTo>
                  <a:pt x="38101" y="0"/>
                </a:moveTo>
                <a:lnTo>
                  <a:pt x="676274" y="0"/>
                </a:lnTo>
                <a:cubicBezTo>
                  <a:pt x="697317" y="0"/>
                  <a:pt x="714375" y="17058"/>
                  <a:pt x="714375" y="38101"/>
                </a:cubicBezTo>
                <a:lnTo>
                  <a:pt x="714375" y="228599"/>
                </a:lnTo>
                <a:cubicBezTo>
                  <a:pt x="714375" y="249628"/>
                  <a:pt x="697303" y="266700"/>
                  <a:pt x="6762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3F4F6"/>
          </a:solidFill>
        </p:spPr>
      </p:sp>
      <p:sp>
        <p:nvSpPr>
          <p:cNvPr id="28" name="Text 26"/>
          <p:cNvSpPr/>
          <p:nvPr/>
        </p:nvSpPr>
        <p:spPr>
          <a:xfrm>
            <a:off x="1835200" y="3962400"/>
            <a:ext cx="78105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9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Booking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9600" y="4343400"/>
            <a:ext cx="52387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Customer can have multiple Bookings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9600" y="4610100"/>
            <a:ext cx="466725" cy="266700"/>
          </a:xfrm>
          <a:custGeom>
            <a:avLst/>
            <a:gdLst/>
            <a:ahLst/>
            <a:cxnLst/>
            <a:rect l="l" t="t" r="r" b="b"/>
            <a:pathLst>
              <a:path w="466725" h="266700">
                <a:moveTo>
                  <a:pt x="38101" y="0"/>
                </a:moveTo>
                <a:lnTo>
                  <a:pt x="428624" y="0"/>
                </a:lnTo>
                <a:cubicBezTo>
                  <a:pt x="449667" y="0"/>
                  <a:pt x="466725" y="17058"/>
                  <a:pt x="466725" y="38101"/>
                </a:cubicBezTo>
                <a:lnTo>
                  <a:pt x="466725" y="228599"/>
                </a:lnTo>
                <a:cubicBezTo>
                  <a:pt x="466725" y="249628"/>
                  <a:pt x="449653" y="266700"/>
                  <a:pt x="4286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3F4F6"/>
          </a:solidFill>
        </p:spPr>
      </p:sp>
      <p:sp>
        <p:nvSpPr>
          <p:cNvPr id="31" name="Text 29"/>
          <p:cNvSpPr/>
          <p:nvPr/>
        </p:nvSpPr>
        <p:spPr>
          <a:xfrm>
            <a:off x="609600" y="4610100"/>
            <a:ext cx="53340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9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Hall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12949" y="4667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121027"/>
                </a:moveTo>
                <a:lnTo>
                  <a:pt x="121027" y="149602"/>
                </a:lnTo>
                <a:cubicBezTo>
                  <a:pt x="118289" y="152340"/>
                  <a:pt x="114211" y="153144"/>
                  <a:pt x="110639" y="151656"/>
                </a:cubicBezTo>
                <a:cubicBezTo>
                  <a:pt x="107067" y="150168"/>
                  <a:pt x="104775" y="146715"/>
                  <a:pt x="104775" y="142875"/>
                </a:cubicBezTo>
                <a:lnTo>
                  <a:pt x="104775" y="123825"/>
                </a:lnTo>
                <a:lnTo>
                  <a:pt x="9525" y="123825"/>
                </a:lnTo>
                <a:cubicBezTo>
                  <a:pt x="4256" y="123825"/>
                  <a:pt x="0" y="119569"/>
                  <a:pt x="0" y="114300"/>
                </a:cubicBezTo>
                <a:cubicBezTo>
                  <a:pt x="0" y="109031"/>
                  <a:pt x="4256" y="104775"/>
                  <a:pt x="9525" y="104775"/>
                </a:cubicBezTo>
                <a:lnTo>
                  <a:pt x="104775" y="104775"/>
                </a:lnTo>
                <a:lnTo>
                  <a:pt x="104775" y="85725"/>
                </a:lnTo>
                <a:cubicBezTo>
                  <a:pt x="104775" y="81885"/>
                  <a:pt x="107097" y="78403"/>
                  <a:pt x="110669" y="76914"/>
                </a:cubicBezTo>
                <a:cubicBezTo>
                  <a:pt x="114240" y="75426"/>
                  <a:pt x="118318" y="76260"/>
                  <a:pt x="121057" y="78968"/>
                </a:cubicBezTo>
                <a:lnTo>
                  <a:pt x="149632" y="107543"/>
                </a:lnTo>
                <a:cubicBezTo>
                  <a:pt x="153353" y="111264"/>
                  <a:pt x="153353" y="117306"/>
                  <a:pt x="149632" y="121027"/>
                </a:cubicBezTo>
                <a:close/>
                <a:moveTo>
                  <a:pt x="2798" y="44827"/>
                </a:moveTo>
                <a:cubicBezTo>
                  <a:pt x="-923" y="41106"/>
                  <a:pt x="-923" y="35064"/>
                  <a:pt x="2798" y="31343"/>
                </a:cubicBezTo>
                <a:lnTo>
                  <a:pt x="31373" y="2768"/>
                </a:lnTo>
                <a:cubicBezTo>
                  <a:pt x="34111" y="30"/>
                  <a:pt x="38189" y="-774"/>
                  <a:pt x="41761" y="714"/>
                </a:cubicBezTo>
                <a:cubicBezTo>
                  <a:pt x="45333" y="2203"/>
                  <a:pt x="47625" y="5685"/>
                  <a:pt x="47625" y="9525"/>
                </a:cubicBezTo>
                <a:lnTo>
                  <a:pt x="47625" y="28575"/>
                </a:lnTo>
                <a:lnTo>
                  <a:pt x="142875" y="28575"/>
                </a:lnTo>
                <a:cubicBezTo>
                  <a:pt x="148144" y="28575"/>
                  <a:pt x="152400" y="32831"/>
                  <a:pt x="152400" y="38100"/>
                </a:cubicBezTo>
                <a:cubicBezTo>
                  <a:pt x="152400" y="43369"/>
                  <a:pt x="148144" y="47625"/>
                  <a:pt x="142875" y="47625"/>
                </a:cubicBezTo>
                <a:lnTo>
                  <a:pt x="47625" y="47625"/>
                </a:lnTo>
                <a:lnTo>
                  <a:pt x="47625" y="66675"/>
                </a:lnTo>
                <a:cubicBezTo>
                  <a:pt x="47625" y="70515"/>
                  <a:pt x="45303" y="73997"/>
                  <a:pt x="41731" y="75486"/>
                </a:cubicBezTo>
                <a:cubicBezTo>
                  <a:pt x="38160" y="76974"/>
                  <a:pt x="34082" y="76140"/>
                  <a:pt x="31343" y="73432"/>
                </a:cubicBezTo>
                <a:lnTo>
                  <a:pt x="2768" y="448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3" name="Shape 31"/>
          <p:cNvSpPr/>
          <p:nvPr/>
        </p:nvSpPr>
        <p:spPr>
          <a:xfrm>
            <a:off x="1498699" y="4610100"/>
            <a:ext cx="714375" cy="266700"/>
          </a:xfrm>
          <a:custGeom>
            <a:avLst/>
            <a:gdLst/>
            <a:ahLst/>
            <a:cxnLst/>
            <a:rect l="l" t="t" r="r" b="b"/>
            <a:pathLst>
              <a:path w="714375" h="266700">
                <a:moveTo>
                  <a:pt x="38101" y="0"/>
                </a:moveTo>
                <a:lnTo>
                  <a:pt x="676274" y="0"/>
                </a:lnTo>
                <a:cubicBezTo>
                  <a:pt x="697317" y="0"/>
                  <a:pt x="714375" y="17058"/>
                  <a:pt x="714375" y="38101"/>
                </a:cubicBezTo>
                <a:lnTo>
                  <a:pt x="714375" y="228599"/>
                </a:lnTo>
                <a:cubicBezTo>
                  <a:pt x="714375" y="249628"/>
                  <a:pt x="697303" y="266700"/>
                  <a:pt x="6762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3F4F6"/>
          </a:solidFill>
        </p:spPr>
      </p:sp>
      <p:sp>
        <p:nvSpPr>
          <p:cNvPr id="34" name="Text 32"/>
          <p:cNvSpPr/>
          <p:nvPr/>
        </p:nvSpPr>
        <p:spPr>
          <a:xfrm>
            <a:off x="1498699" y="4610100"/>
            <a:ext cx="78105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9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Booking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9600" y="4991100"/>
            <a:ext cx="52387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Hall can host multiple Bookings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29350" y="1257300"/>
            <a:ext cx="5581650" cy="1333500"/>
          </a:xfrm>
          <a:custGeom>
            <a:avLst/>
            <a:gdLst/>
            <a:ahLst/>
            <a:cxnLst/>
            <a:rect l="l" t="t" r="r" b="b"/>
            <a:pathLst>
              <a:path w="5581650" h="1333500">
                <a:moveTo>
                  <a:pt x="0" y="0"/>
                </a:moveTo>
                <a:lnTo>
                  <a:pt x="5581650" y="0"/>
                </a:lnTo>
                <a:lnTo>
                  <a:pt x="558165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37" name="Shape 35"/>
          <p:cNvSpPr/>
          <p:nvPr/>
        </p:nvSpPr>
        <p:spPr>
          <a:xfrm>
            <a:off x="6229350" y="12573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8" name="Shape 36"/>
          <p:cNvSpPr/>
          <p:nvPr/>
        </p:nvSpPr>
        <p:spPr>
          <a:xfrm>
            <a:off x="6474619" y="14859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1906" y="47625"/>
                </a:moveTo>
                <a:cubicBezTo>
                  <a:pt x="5321" y="47625"/>
                  <a:pt x="0" y="52946"/>
                  <a:pt x="0" y="59531"/>
                </a:cubicBezTo>
                <a:cubicBezTo>
                  <a:pt x="0" y="66117"/>
                  <a:pt x="5321" y="71438"/>
                  <a:pt x="11906" y="71438"/>
                </a:cubicBezTo>
                <a:lnTo>
                  <a:pt x="154781" y="71438"/>
                </a:lnTo>
                <a:cubicBezTo>
                  <a:pt x="161367" y="71438"/>
                  <a:pt x="166688" y="66117"/>
                  <a:pt x="166688" y="59531"/>
                </a:cubicBezTo>
                <a:cubicBezTo>
                  <a:pt x="166688" y="52946"/>
                  <a:pt x="161367" y="47625"/>
                  <a:pt x="154781" y="47625"/>
                </a:cubicBezTo>
                <a:lnTo>
                  <a:pt x="11906" y="47625"/>
                </a:lnTo>
                <a:close/>
                <a:moveTo>
                  <a:pt x="11906" y="119063"/>
                </a:moveTo>
                <a:cubicBezTo>
                  <a:pt x="5321" y="119063"/>
                  <a:pt x="0" y="124383"/>
                  <a:pt x="0" y="130969"/>
                </a:cubicBezTo>
                <a:cubicBezTo>
                  <a:pt x="0" y="137554"/>
                  <a:pt x="5321" y="142875"/>
                  <a:pt x="11906" y="142875"/>
                </a:cubicBezTo>
                <a:lnTo>
                  <a:pt x="154781" y="142875"/>
                </a:lnTo>
                <a:cubicBezTo>
                  <a:pt x="161367" y="142875"/>
                  <a:pt x="166688" y="137554"/>
                  <a:pt x="166688" y="130969"/>
                </a:cubicBezTo>
                <a:cubicBezTo>
                  <a:pt x="166688" y="124383"/>
                  <a:pt x="161367" y="119063"/>
                  <a:pt x="154781" y="119063"/>
                </a:cubicBezTo>
                <a:lnTo>
                  <a:pt x="11906" y="119063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9" name="Text 37"/>
          <p:cNvSpPr/>
          <p:nvPr/>
        </p:nvSpPr>
        <p:spPr>
          <a:xfrm>
            <a:off x="6677025" y="1447800"/>
            <a:ext cx="503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One-to-One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38900" y="1828800"/>
            <a:ext cx="714375" cy="266700"/>
          </a:xfrm>
          <a:custGeom>
            <a:avLst/>
            <a:gdLst/>
            <a:ahLst/>
            <a:cxnLst/>
            <a:rect l="l" t="t" r="r" b="b"/>
            <a:pathLst>
              <a:path w="714375" h="266700">
                <a:moveTo>
                  <a:pt x="38101" y="0"/>
                </a:moveTo>
                <a:lnTo>
                  <a:pt x="676274" y="0"/>
                </a:lnTo>
                <a:cubicBezTo>
                  <a:pt x="697317" y="0"/>
                  <a:pt x="714375" y="17058"/>
                  <a:pt x="714375" y="38101"/>
                </a:cubicBezTo>
                <a:lnTo>
                  <a:pt x="714375" y="228599"/>
                </a:lnTo>
                <a:cubicBezTo>
                  <a:pt x="714375" y="249628"/>
                  <a:pt x="697303" y="266700"/>
                  <a:pt x="6762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3F4F6"/>
          </a:solidFill>
        </p:spPr>
      </p:sp>
      <p:sp>
        <p:nvSpPr>
          <p:cNvPr id="41" name="Text 39"/>
          <p:cNvSpPr/>
          <p:nvPr/>
        </p:nvSpPr>
        <p:spPr>
          <a:xfrm>
            <a:off x="6438900" y="1828800"/>
            <a:ext cx="78105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9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Booking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285286" y="1885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121027"/>
                </a:moveTo>
                <a:lnTo>
                  <a:pt x="121027" y="149602"/>
                </a:lnTo>
                <a:cubicBezTo>
                  <a:pt x="118289" y="152340"/>
                  <a:pt x="114211" y="153144"/>
                  <a:pt x="110639" y="151656"/>
                </a:cubicBezTo>
                <a:cubicBezTo>
                  <a:pt x="107067" y="150168"/>
                  <a:pt x="104775" y="146715"/>
                  <a:pt x="104775" y="142875"/>
                </a:cubicBezTo>
                <a:lnTo>
                  <a:pt x="104775" y="123825"/>
                </a:lnTo>
                <a:lnTo>
                  <a:pt x="9525" y="123825"/>
                </a:lnTo>
                <a:cubicBezTo>
                  <a:pt x="4256" y="123825"/>
                  <a:pt x="0" y="119569"/>
                  <a:pt x="0" y="114300"/>
                </a:cubicBezTo>
                <a:cubicBezTo>
                  <a:pt x="0" y="109031"/>
                  <a:pt x="4256" y="104775"/>
                  <a:pt x="9525" y="104775"/>
                </a:cubicBezTo>
                <a:lnTo>
                  <a:pt x="104775" y="104775"/>
                </a:lnTo>
                <a:lnTo>
                  <a:pt x="104775" y="85725"/>
                </a:lnTo>
                <a:cubicBezTo>
                  <a:pt x="104775" y="81885"/>
                  <a:pt x="107097" y="78403"/>
                  <a:pt x="110669" y="76914"/>
                </a:cubicBezTo>
                <a:cubicBezTo>
                  <a:pt x="114240" y="75426"/>
                  <a:pt x="118318" y="76260"/>
                  <a:pt x="121057" y="78968"/>
                </a:cubicBezTo>
                <a:lnTo>
                  <a:pt x="149632" y="107543"/>
                </a:lnTo>
                <a:cubicBezTo>
                  <a:pt x="153353" y="111264"/>
                  <a:pt x="153353" y="117306"/>
                  <a:pt x="149632" y="121027"/>
                </a:cubicBezTo>
                <a:close/>
                <a:moveTo>
                  <a:pt x="2798" y="44827"/>
                </a:moveTo>
                <a:cubicBezTo>
                  <a:pt x="-923" y="41106"/>
                  <a:pt x="-923" y="35064"/>
                  <a:pt x="2798" y="31343"/>
                </a:cubicBezTo>
                <a:lnTo>
                  <a:pt x="31373" y="2768"/>
                </a:lnTo>
                <a:cubicBezTo>
                  <a:pt x="34111" y="30"/>
                  <a:pt x="38189" y="-774"/>
                  <a:pt x="41761" y="714"/>
                </a:cubicBezTo>
                <a:cubicBezTo>
                  <a:pt x="45333" y="2203"/>
                  <a:pt x="47625" y="5685"/>
                  <a:pt x="47625" y="9525"/>
                </a:cubicBezTo>
                <a:lnTo>
                  <a:pt x="47625" y="28575"/>
                </a:lnTo>
                <a:lnTo>
                  <a:pt x="142875" y="28575"/>
                </a:lnTo>
                <a:cubicBezTo>
                  <a:pt x="148144" y="28575"/>
                  <a:pt x="152400" y="32831"/>
                  <a:pt x="152400" y="38100"/>
                </a:cubicBezTo>
                <a:cubicBezTo>
                  <a:pt x="152400" y="43369"/>
                  <a:pt x="148144" y="47625"/>
                  <a:pt x="142875" y="47625"/>
                </a:cubicBezTo>
                <a:lnTo>
                  <a:pt x="47625" y="47625"/>
                </a:lnTo>
                <a:lnTo>
                  <a:pt x="47625" y="66675"/>
                </a:lnTo>
                <a:cubicBezTo>
                  <a:pt x="47625" y="70515"/>
                  <a:pt x="45303" y="73997"/>
                  <a:pt x="41731" y="75486"/>
                </a:cubicBezTo>
                <a:cubicBezTo>
                  <a:pt x="38160" y="76974"/>
                  <a:pt x="34082" y="76140"/>
                  <a:pt x="31343" y="73432"/>
                </a:cubicBezTo>
                <a:lnTo>
                  <a:pt x="2768" y="448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3" name="Shape 41"/>
          <p:cNvSpPr/>
          <p:nvPr/>
        </p:nvSpPr>
        <p:spPr>
          <a:xfrm>
            <a:off x="7571036" y="1828800"/>
            <a:ext cx="733425" cy="266700"/>
          </a:xfrm>
          <a:custGeom>
            <a:avLst/>
            <a:gdLst/>
            <a:ahLst/>
            <a:cxnLst/>
            <a:rect l="l" t="t" r="r" b="b"/>
            <a:pathLst>
              <a:path w="733425" h="266700">
                <a:moveTo>
                  <a:pt x="38101" y="0"/>
                </a:moveTo>
                <a:lnTo>
                  <a:pt x="695324" y="0"/>
                </a:lnTo>
                <a:cubicBezTo>
                  <a:pt x="716367" y="0"/>
                  <a:pt x="733425" y="17058"/>
                  <a:pt x="733425" y="38101"/>
                </a:cubicBezTo>
                <a:lnTo>
                  <a:pt x="733425" y="228599"/>
                </a:lnTo>
                <a:cubicBezTo>
                  <a:pt x="733425" y="249628"/>
                  <a:pt x="716353" y="266700"/>
                  <a:pt x="6953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3F4F6"/>
          </a:solidFill>
        </p:spPr>
      </p:sp>
      <p:sp>
        <p:nvSpPr>
          <p:cNvPr id="44" name="Text 42"/>
          <p:cNvSpPr/>
          <p:nvPr/>
        </p:nvSpPr>
        <p:spPr>
          <a:xfrm>
            <a:off x="7571036" y="1828800"/>
            <a:ext cx="80010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9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Payment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38900" y="2209800"/>
            <a:ext cx="5248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 Booking generates exactly one Payment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29350" y="2743200"/>
            <a:ext cx="5581650" cy="1943100"/>
          </a:xfrm>
          <a:custGeom>
            <a:avLst/>
            <a:gdLst/>
            <a:ahLst/>
            <a:cxnLst/>
            <a:rect l="l" t="t" r="r" b="b"/>
            <a:pathLst>
              <a:path w="5581650" h="1943100">
                <a:moveTo>
                  <a:pt x="0" y="0"/>
                </a:moveTo>
                <a:lnTo>
                  <a:pt x="5581650" y="0"/>
                </a:lnTo>
                <a:lnTo>
                  <a:pt x="5581650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47" name="Shape 45"/>
          <p:cNvSpPr/>
          <p:nvPr/>
        </p:nvSpPr>
        <p:spPr>
          <a:xfrm>
            <a:off x="6229350" y="2743200"/>
            <a:ext cx="38100" cy="1943100"/>
          </a:xfrm>
          <a:custGeom>
            <a:avLst/>
            <a:gdLst/>
            <a:ahLst/>
            <a:cxnLst/>
            <a:rect l="l" t="t" r="r" b="b"/>
            <a:pathLst>
              <a:path w="38100" h="1943100">
                <a:moveTo>
                  <a:pt x="0" y="0"/>
                </a:moveTo>
                <a:lnTo>
                  <a:pt x="38100" y="0"/>
                </a:lnTo>
                <a:lnTo>
                  <a:pt x="38100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8" name="Shape 46"/>
          <p:cNvSpPr/>
          <p:nvPr/>
        </p:nvSpPr>
        <p:spPr>
          <a:xfrm>
            <a:off x="6462713" y="2971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9" name="Text 47"/>
          <p:cNvSpPr/>
          <p:nvPr/>
        </p:nvSpPr>
        <p:spPr>
          <a:xfrm>
            <a:off x="6677025" y="2933700"/>
            <a:ext cx="503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Zero-to-Many / Zero-to-One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38900" y="3314700"/>
            <a:ext cx="809625" cy="266700"/>
          </a:xfrm>
          <a:custGeom>
            <a:avLst/>
            <a:gdLst/>
            <a:ahLst/>
            <a:cxnLst/>
            <a:rect l="l" t="t" r="r" b="b"/>
            <a:pathLst>
              <a:path w="809625" h="266700">
                <a:moveTo>
                  <a:pt x="38101" y="0"/>
                </a:moveTo>
                <a:lnTo>
                  <a:pt x="771524" y="0"/>
                </a:lnTo>
                <a:cubicBezTo>
                  <a:pt x="792567" y="0"/>
                  <a:pt x="809625" y="17058"/>
                  <a:pt x="809625" y="38101"/>
                </a:cubicBezTo>
                <a:lnTo>
                  <a:pt x="809625" y="228599"/>
                </a:lnTo>
                <a:cubicBezTo>
                  <a:pt x="809625" y="249628"/>
                  <a:pt x="792553" y="266700"/>
                  <a:pt x="7715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BEAFE"/>
          </a:solidFill>
        </p:spPr>
      </p:sp>
      <p:sp>
        <p:nvSpPr>
          <p:cNvPr id="51" name="Text 49"/>
          <p:cNvSpPr/>
          <p:nvPr/>
        </p:nvSpPr>
        <p:spPr>
          <a:xfrm>
            <a:off x="6438900" y="3314700"/>
            <a:ext cx="87630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93CB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Customer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378750" y="3371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121027"/>
                </a:moveTo>
                <a:lnTo>
                  <a:pt x="121027" y="149602"/>
                </a:lnTo>
                <a:cubicBezTo>
                  <a:pt x="118289" y="152340"/>
                  <a:pt x="114211" y="153144"/>
                  <a:pt x="110639" y="151656"/>
                </a:cubicBezTo>
                <a:cubicBezTo>
                  <a:pt x="107067" y="150168"/>
                  <a:pt x="104775" y="146715"/>
                  <a:pt x="104775" y="142875"/>
                </a:cubicBezTo>
                <a:lnTo>
                  <a:pt x="104775" y="123825"/>
                </a:lnTo>
                <a:lnTo>
                  <a:pt x="9525" y="123825"/>
                </a:lnTo>
                <a:cubicBezTo>
                  <a:pt x="4256" y="123825"/>
                  <a:pt x="0" y="119569"/>
                  <a:pt x="0" y="114300"/>
                </a:cubicBezTo>
                <a:cubicBezTo>
                  <a:pt x="0" y="109031"/>
                  <a:pt x="4256" y="104775"/>
                  <a:pt x="9525" y="104775"/>
                </a:cubicBezTo>
                <a:lnTo>
                  <a:pt x="104775" y="104775"/>
                </a:lnTo>
                <a:lnTo>
                  <a:pt x="104775" y="85725"/>
                </a:lnTo>
                <a:cubicBezTo>
                  <a:pt x="104775" y="81885"/>
                  <a:pt x="107097" y="78403"/>
                  <a:pt x="110669" y="76914"/>
                </a:cubicBezTo>
                <a:cubicBezTo>
                  <a:pt x="114240" y="75426"/>
                  <a:pt x="118318" y="76260"/>
                  <a:pt x="121057" y="78968"/>
                </a:cubicBezTo>
                <a:lnTo>
                  <a:pt x="149632" y="107543"/>
                </a:lnTo>
                <a:cubicBezTo>
                  <a:pt x="153353" y="111264"/>
                  <a:pt x="153353" y="117306"/>
                  <a:pt x="149632" y="121027"/>
                </a:cubicBezTo>
                <a:close/>
                <a:moveTo>
                  <a:pt x="2798" y="44827"/>
                </a:moveTo>
                <a:cubicBezTo>
                  <a:pt x="-923" y="41106"/>
                  <a:pt x="-923" y="35064"/>
                  <a:pt x="2798" y="31343"/>
                </a:cubicBezTo>
                <a:lnTo>
                  <a:pt x="31373" y="2768"/>
                </a:lnTo>
                <a:cubicBezTo>
                  <a:pt x="34111" y="30"/>
                  <a:pt x="38189" y="-774"/>
                  <a:pt x="41761" y="714"/>
                </a:cubicBezTo>
                <a:cubicBezTo>
                  <a:pt x="45333" y="2203"/>
                  <a:pt x="47625" y="5685"/>
                  <a:pt x="47625" y="9525"/>
                </a:cubicBezTo>
                <a:lnTo>
                  <a:pt x="47625" y="28575"/>
                </a:lnTo>
                <a:lnTo>
                  <a:pt x="142875" y="28575"/>
                </a:lnTo>
                <a:cubicBezTo>
                  <a:pt x="148144" y="28575"/>
                  <a:pt x="152400" y="32831"/>
                  <a:pt x="152400" y="38100"/>
                </a:cubicBezTo>
                <a:cubicBezTo>
                  <a:pt x="152400" y="43369"/>
                  <a:pt x="148144" y="47625"/>
                  <a:pt x="142875" y="47625"/>
                </a:cubicBezTo>
                <a:lnTo>
                  <a:pt x="47625" y="47625"/>
                </a:lnTo>
                <a:lnTo>
                  <a:pt x="47625" y="66675"/>
                </a:lnTo>
                <a:cubicBezTo>
                  <a:pt x="47625" y="70515"/>
                  <a:pt x="45303" y="73997"/>
                  <a:pt x="41731" y="75486"/>
                </a:cubicBezTo>
                <a:cubicBezTo>
                  <a:pt x="38160" y="76974"/>
                  <a:pt x="34082" y="76140"/>
                  <a:pt x="31343" y="73432"/>
                </a:cubicBezTo>
                <a:lnTo>
                  <a:pt x="2768" y="448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3" name="Shape 51"/>
          <p:cNvSpPr/>
          <p:nvPr/>
        </p:nvSpPr>
        <p:spPr>
          <a:xfrm>
            <a:off x="7664500" y="3314700"/>
            <a:ext cx="514350" cy="266700"/>
          </a:xfrm>
          <a:custGeom>
            <a:avLst/>
            <a:gdLst/>
            <a:ahLst/>
            <a:cxnLst/>
            <a:rect l="l" t="t" r="r" b="b"/>
            <a:pathLst>
              <a:path w="514350" h="266700">
                <a:moveTo>
                  <a:pt x="38101" y="0"/>
                </a:moveTo>
                <a:lnTo>
                  <a:pt x="476249" y="0"/>
                </a:lnTo>
                <a:cubicBezTo>
                  <a:pt x="497292" y="0"/>
                  <a:pt x="514350" y="17058"/>
                  <a:pt x="514350" y="38101"/>
                </a:cubicBezTo>
                <a:lnTo>
                  <a:pt x="514350" y="228599"/>
                </a:lnTo>
                <a:cubicBezTo>
                  <a:pt x="514350" y="249628"/>
                  <a:pt x="497278" y="266700"/>
                  <a:pt x="4762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3F4F6"/>
          </a:solidFill>
        </p:spPr>
      </p:sp>
      <p:sp>
        <p:nvSpPr>
          <p:cNvPr id="54" name="Text 52"/>
          <p:cNvSpPr/>
          <p:nvPr/>
        </p:nvSpPr>
        <p:spPr>
          <a:xfrm>
            <a:off x="7664500" y="3314700"/>
            <a:ext cx="58102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9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Issue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38900" y="3695700"/>
            <a:ext cx="52387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Customer raises zero or many Issues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38900" y="3962400"/>
            <a:ext cx="514350" cy="266700"/>
          </a:xfrm>
          <a:custGeom>
            <a:avLst/>
            <a:gdLst/>
            <a:ahLst/>
            <a:cxnLst/>
            <a:rect l="l" t="t" r="r" b="b"/>
            <a:pathLst>
              <a:path w="514350" h="266700">
                <a:moveTo>
                  <a:pt x="38101" y="0"/>
                </a:moveTo>
                <a:lnTo>
                  <a:pt x="476249" y="0"/>
                </a:lnTo>
                <a:cubicBezTo>
                  <a:pt x="497292" y="0"/>
                  <a:pt x="514350" y="17058"/>
                  <a:pt x="514350" y="38101"/>
                </a:cubicBezTo>
                <a:lnTo>
                  <a:pt x="514350" y="228599"/>
                </a:lnTo>
                <a:cubicBezTo>
                  <a:pt x="514350" y="249628"/>
                  <a:pt x="497278" y="266700"/>
                  <a:pt x="4762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3F4F6"/>
          </a:solidFill>
        </p:spPr>
      </p:sp>
      <p:sp>
        <p:nvSpPr>
          <p:cNvPr id="57" name="Text 55"/>
          <p:cNvSpPr/>
          <p:nvPr/>
        </p:nvSpPr>
        <p:spPr>
          <a:xfrm>
            <a:off x="6438900" y="3962400"/>
            <a:ext cx="58102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9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Issue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088386" y="4019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121027"/>
                </a:moveTo>
                <a:lnTo>
                  <a:pt x="121027" y="149602"/>
                </a:lnTo>
                <a:cubicBezTo>
                  <a:pt x="118289" y="152340"/>
                  <a:pt x="114211" y="153144"/>
                  <a:pt x="110639" y="151656"/>
                </a:cubicBezTo>
                <a:cubicBezTo>
                  <a:pt x="107067" y="150168"/>
                  <a:pt x="104775" y="146715"/>
                  <a:pt x="104775" y="142875"/>
                </a:cubicBezTo>
                <a:lnTo>
                  <a:pt x="104775" y="123825"/>
                </a:lnTo>
                <a:lnTo>
                  <a:pt x="9525" y="123825"/>
                </a:lnTo>
                <a:cubicBezTo>
                  <a:pt x="4256" y="123825"/>
                  <a:pt x="0" y="119569"/>
                  <a:pt x="0" y="114300"/>
                </a:cubicBezTo>
                <a:cubicBezTo>
                  <a:pt x="0" y="109031"/>
                  <a:pt x="4256" y="104775"/>
                  <a:pt x="9525" y="104775"/>
                </a:cubicBezTo>
                <a:lnTo>
                  <a:pt x="104775" y="104775"/>
                </a:lnTo>
                <a:lnTo>
                  <a:pt x="104775" y="85725"/>
                </a:lnTo>
                <a:cubicBezTo>
                  <a:pt x="104775" y="81885"/>
                  <a:pt x="107097" y="78403"/>
                  <a:pt x="110669" y="76914"/>
                </a:cubicBezTo>
                <a:cubicBezTo>
                  <a:pt x="114240" y="75426"/>
                  <a:pt x="118318" y="76260"/>
                  <a:pt x="121057" y="78968"/>
                </a:cubicBezTo>
                <a:lnTo>
                  <a:pt x="149632" y="107543"/>
                </a:lnTo>
                <a:cubicBezTo>
                  <a:pt x="153353" y="111264"/>
                  <a:pt x="153353" y="117306"/>
                  <a:pt x="149632" y="121027"/>
                </a:cubicBezTo>
                <a:close/>
                <a:moveTo>
                  <a:pt x="2798" y="44827"/>
                </a:moveTo>
                <a:cubicBezTo>
                  <a:pt x="-923" y="41106"/>
                  <a:pt x="-923" y="35064"/>
                  <a:pt x="2798" y="31343"/>
                </a:cubicBezTo>
                <a:lnTo>
                  <a:pt x="31373" y="2768"/>
                </a:lnTo>
                <a:cubicBezTo>
                  <a:pt x="34111" y="30"/>
                  <a:pt x="38189" y="-774"/>
                  <a:pt x="41761" y="714"/>
                </a:cubicBezTo>
                <a:cubicBezTo>
                  <a:pt x="45333" y="2203"/>
                  <a:pt x="47625" y="5685"/>
                  <a:pt x="47625" y="9525"/>
                </a:cubicBezTo>
                <a:lnTo>
                  <a:pt x="47625" y="28575"/>
                </a:lnTo>
                <a:lnTo>
                  <a:pt x="142875" y="28575"/>
                </a:lnTo>
                <a:cubicBezTo>
                  <a:pt x="148144" y="28575"/>
                  <a:pt x="152400" y="32831"/>
                  <a:pt x="152400" y="38100"/>
                </a:cubicBezTo>
                <a:cubicBezTo>
                  <a:pt x="152400" y="43369"/>
                  <a:pt x="148144" y="47625"/>
                  <a:pt x="142875" y="47625"/>
                </a:cubicBezTo>
                <a:lnTo>
                  <a:pt x="47625" y="47625"/>
                </a:lnTo>
                <a:lnTo>
                  <a:pt x="47625" y="66675"/>
                </a:lnTo>
                <a:cubicBezTo>
                  <a:pt x="47625" y="70515"/>
                  <a:pt x="45303" y="73997"/>
                  <a:pt x="41731" y="75486"/>
                </a:cubicBezTo>
                <a:cubicBezTo>
                  <a:pt x="38160" y="76974"/>
                  <a:pt x="34082" y="76140"/>
                  <a:pt x="31343" y="73432"/>
                </a:cubicBezTo>
                <a:lnTo>
                  <a:pt x="2768" y="448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9" name="Shape 57"/>
          <p:cNvSpPr/>
          <p:nvPr/>
        </p:nvSpPr>
        <p:spPr>
          <a:xfrm>
            <a:off x="7374136" y="3962400"/>
            <a:ext cx="809625" cy="266700"/>
          </a:xfrm>
          <a:custGeom>
            <a:avLst/>
            <a:gdLst/>
            <a:ahLst/>
            <a:cxnLst/>
            <a:rect l="l" t="t" r="r" b="b"/>
            <a:pathLst>
              <a:path w="809625" h="266700">
                <a:moveTo>
                  <a:pt x="38101" y="0"/>
                </a:moveTo>
                <a:lnTo>
                  <a:pt x="771524" y="0"/>
                </a:lnTo>
                <a:cubicBezTo>
                  <a:pt x="792567" y="0"/>
                  <a:pt x="809625" y="17058"/>
                  <a:pt x="809625" y="38101"/>
                </a:cubicBezTo>
                <a:lnTo>
                  <a:pt x="809625" y="228599"/>
                </a:lnTo>
                <a:cubicBezTo>
                  <a:pt x="809625" y="249628"/>
                  <a:pt x="792553" y="266700"/>
                  <a:pt x="7715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CFCE7"/>
          </a:solidFill>
        </p:spPr>
      </p:sp>
      <p:sp>
        <p:nvSpPr>
          <p:cNvPr id="60" name="Text 58"/>
          <p:cNvSpPr/>
          <p:nvPr/>
        </p:nvSpPr>
        <p:spPr>
          <a:xfrm>
            <a:off x="7374136" y="3962400"/>
            <a:ext cx="87630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Scheduler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38900" y="4343400"/>
            <a:ext cx="52387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Issue assigned to zero or one Scheduler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229350" y="4838700"/>
            <a:ext cx="5581650" cy="952500"/>
          </a:xfrm>
          <a:custGeom>
            <a:avLst/>
            <a:gdLst/>
            <a:ahLst/>
            <a:cxnLst/>
            <a:rect l="l" t="t" r="r" b="b"/>
            <a:pathLst>
              <a:path w="5581650" h="952500">
                <a:moveTo>
                  <a:pt x="0" y="0"/>
                </a:moveTo>
                <a:lnTo>
                  <a:pt x="5581650" y="0"/>
                </a:lnTo>
                <a:lnTo>
                  <a:pt x="55816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63" name="Shape 61"/>
          <p:cNvSpPr/>
          <p:nvPr/>
        </p:nvSpPr>
        <p:spPr>
          <a:xfrm>
            <a:off x="6229350" y="48387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4" name="Shape 62"/>
          <p:cNvSpPr/>
          <p:nvPr/>
        </p:nvSpPr>
        <p:spPr>
          <a:xfrm>
            <a:off x="6474619" y="50673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5" name="Text 63"/>
          <p:cNvSpPr/>
          <p:nvPr/>
        </p:nvSpPr>
        <p:spPr>
          <a:xfrm>
            <a:off x="6677025" y="5029200"/>
            <a:ext cx="503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Schedule Records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438900" y="5410200"/>
            <a:ext cx="5248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Hall ↔ Schedule: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Schedule records track Hall availability and maintenance periods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275" y="245110"/>
            <a:ext cx="7468870" cy="573087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2.5 Class Diagram Visualization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Class Diagram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5966371"/>
            <a:ext cx="11410950" cy="514350"/>
          </a:xfrm>
          <a:custGeom>
            <a:avLst/>
            <a:gdLst/>
            <a:ahLst/>
            <a:cxnLst/>
            <a:rect l="l" t="t" r="r" b="b"/>
            <a:pathLst>
              <a:path w="11410950" h="514350">
                <a:moveTo>
                  <a:pt x="0" y="0"/>
                </a:moveTo>
                <a:lnTo>
                  <a:pt x="11410950" y="0"/>
                </a:lnTo>
                <a:lnTo>
                  <a:pt x="114109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0" name="Shape 8"/>
          <p:cNvSpPr/>
          <p:nvPr/>
        </p:nvSpPr>
        <p:spPr>
          <a:xfrm>
            <a:off x="400050" y="5966371"/>
            <a:ext cx="38100" cy="514350"/>
          </a:xfrm>
          <a:custGeom>
            <a:avLst/>
            <a:gdLst/>
            <a:ahLst/>
            <a:cxnLst/>
            <a:rect l="l" t="t" r="r" b="b"/>
            <a:pathLst>
              <a:path w="38100" h="514350">
                <a:moveTo>
                  <a:pt x="0" y="0"/>
                </a:moveTo>
                <a:lnTo>
                  <a:pt x="38100" y="0"/>
                </a:lnTo>
                <a:lnTo>
                  <a:pt x="3810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Text 9"/>
          <p:cNvSpPr/>
          <p:nvPr/>
        </p:nvSpPr>
        <p:spPr>
          <a:xfrm>
            <a:off x="537210" y="6118771"/>
            <a:ext cx="1115568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Figure 2:</a:t>
            </a:r>
            <a:r>
              <a:rPr lang="en-US" sz="108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Class Diagram showing the complete Model Layer structure with inheritance, associations, and relationships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F9FAFB"/>
              </a:gs>
            </a:gsLst>
            <a:lin ang="2700000" scaled="1"/>
          </a:gradFill>
        </p:spPr>
      </p:sp>
      <p:pic>
        <p:nvPicPr>
          <p:cNvPr id="3" name="Image 0" descr="https://kimi-web-img.moonshot.cn/img/www.shakebugs.com/166e7a9c8e8dfda3a8513762b98deb87fb2145ad.png"/>
          <p:cNvPicPr>
            <a:picLocks noChangeAspect="1"/>
          </p:cNvPicPr>
          <p:nvPr/>
        </p:nvPicPr>
        <p:blipFill>
          <a:blip r:embed="rId1">
            <a:alphaModFix amt="10000"/>
          </a:blip>
          <a:srcRect t="11032" b="11032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5" name="Text 2"/>
          <p:cNvSpPr/>
          <p:nvPr/>
        </p:nvSpPr>
        <p:spPr>
          <a:xfrm>
            <a:off x="381000" y="1771650"/>
            <a:ext cx="120396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8B0000">
                    <a:alpha val="2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143250"/>
            <a:ext cx="1171575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Program Output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Screenshots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5148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Text 5"/>
          <p:cNvSpPr/>
          <p:nvPr/>
        </p:nvSpPr>
        <p:spPr>
          <a:xfrm>
            <a:off x="381000" y="4781550"/>
            <a:ext cx="1154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User Interface Demonstrations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3.1 Authentication Screens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Login and Registration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0050" y="3543300"/>
            <a:ext cx="5543550" cy="1524000"/>
          </a:xfrm>
          <a:custGeom>
            <a:avLst/>
            <a:gdLst/>
            <a:ahLst/>
            <a:cxnLst/>
            <a:rect l="l" t="t" r="r" b="b"/>
            <a:pathLst>
              <a:path w="5543550" h="1524000">
                <a:moveTo>
                  <a:pt x="0" y="0"/>
                </a:moveTo>
                <a:lnTo>
                  <a:pt x="5543550" y="0"/>
                </a:lnTo>
                <a:lnTo>
                  <a:pt x="554355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9" name="Shape 7"/>
          <p:cNvSpPr/>
          <p:nvPr/>
        </p:nvSpPr>
        <p:spPr>
          <a:xfrm>
            <a:off x="400050" y="35433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571500" y="3695700"/>
            <a:ext cx="5305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Login Screen Features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4038600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Single entry point for all four user roles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4267200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Username and password authentication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4495800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Error dialogs for incorrect credentials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4724400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Blocked account denial with proper messages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7450" y="3543300"/>
            <a:ext cx="5543550" cy="1524000"/>
          </a:xfrm>
          <a:custGeom>
            <a:avLst/>
            <a:gdLst/>
            <a:ahLst/>
            <a:cxnLst/>
            <a:rect l="l" t="t" r="r" b="b"/>
            <a:pathLst>
              <a:path w="5543550" h="1524000">
                <a:moveTo>
                  <a:pt x="0" y="0"/>
                </a:moveTo>
                <a:lnTo>
                  <a:pt x="5543550" y="0"/>
                </a:lnTo>
                <a:lnTo>
                  <a:pt x="554355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0" name="Shape 18"/>
          <p:cNvSpPr/>
          <p:nvPr/>
        </p:nvSpPr>
        <p:spPr>
          <a:xfrm>
            <a:off x="6267450" y="35433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1" name="Text 19"/>
          <p:cNvSpPr/>
          <p:nvPr/>
        </p:nvSpPr>
        <p:spPr>
          <a:xfrm>
            <a:off x="6438900" y="3695700"/>
            <a:ext cx="5305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Registration Features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38900" y="4038600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New customer account creation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38900" y="4267200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Complete field validation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38900" y="4495800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Duplicate username checking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38900" y="4724400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Account saved to users.txt</a:t>
            </a:r>
            <a:endParaRPr lang="en-US" sz="1600" dirty="0"/>
          </a:p>
        </p:txBody>
      </p:sp>
      <p:pic>
        <p:nvPicPr>
          <p:cNvPr id="2107440854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50" y="1032510"/>
            <a:ext cx="3321050" cy="2545080"/>
          </a:xfrm>
          <a:prstGeom prst="rect">
            <a:avLst/>
          </a:prstGeom>
        </p:spPr>
      </p:pic>
      <p:pic>
        <p:nvPicPr>
          <p:cNvPr id="192435831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648" y="480060"/>
            <a:ext cx="3143885" cy="30632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3.2 Administrator Interface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Administrator Dashboard</a:t>
            </a:r>
            <a:endParaRPr lang="en-US" sz="1600" dirty="0"/>
          </a:p>
        </p:txBody>
      </p:sp>
      <p:grpSp>
        <p:nvGrpSpPr>
          <p:cNvPr id="27" name="Group 26"/>
          <p:cNvGrpSpPr/>
          <p:nvPr/>
        </p:nvGrpSpPr>
        <p:grpSpPr>
          <a:xfrm>
            <a:off x="883285" y="4881245"/>
            <a:ext cx="9421495" cy="1463040"/>
            <a:chOff x="12790" y="6060"/>
            <a:chExt cx="5804" cy="1920"/>
          </a:xfrm>
        </p:grpSpPr>
        <p:sp>
          <p:nvSpPr>
            <p:cNvPr id="20" name="Shape 18"/>
            <p:cNvSpPr/>
            <p:nvPr/>
          </p:nvSpPr>
          <p:spPr>
            <a:xfrm>
              <a:off x="12790" y="6060"/>
              <a:ext cx="5805" cy="1920"/>
            </a:xfrm>
            <a:custGeom>
              <a:avLst/>
              <a:gdLst/>
              <a:ahLst/>
              <a:cxnLst/>
              <a:rect l="l" t="t" r="r" b="b"/>
              <a:pathLst>
                <a:path w="3686175" h="1219200">
                  <a:moveTo>
                    <a:pt x="0" y="0"/>
                  </a:moveTo>
                  <a:lnTo>
                    <a:pt x="3686175" y="0"/>
                  </a:lnTo>
                  <a:lnTo>
                    <a:pt x="3686175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21" name="Shape 19"/>
            <p:cNvSpPr/>
            <p:nvPr/>
          </p:nvSpPr>
          <p:spPr>
            <a:xfrm>
              <a:off x="12790" y="6060"/>
              <a:ext cx="60" cy="1920"/>
            </a:xfrm>
            <a:custGeom>
              <a:avLst/>
              <a:gdLst/>
              <a:ahLst/>
              <a:cxnLst/>
              <a:rect l="l" t="t" r="r" b="b"/>
              <a:pathLst>
                <a:path w="38100" h="1219200">
                  <a:moveTo>
                    <a:pt x="0" y="0"/>
                  </a:moveTo>
                  <a:lnTo>
                    <a:pt x="38100" y="0"/>
                  </a:lnTo>
                  <a:lnTo>
                    <a:pt x="381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900"/>
            </a:solidFill>
          </p:spPr>
        </p:sp>
        <p:sp>
          <p:nvSpPr>
            <p:cNvPr id="22" name="Text 20"/>
            <p:cNvSpPr/>
            <p:nvPr/>
          </p:nvSpPr>
          <p:spPr>
            <a:xfrm>
              <a:off x="13000" y="6240"/>
              <a:ext cx="5520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Admin Functions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3000" y="6660"/>
              <a:ext cx="550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90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Create Scheduler accounts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3000" y="6960"/>
              <a:ext cx="550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90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Block/unblock users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13000" y="7260"/>
              <a:ext cx="550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90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View all bookings</a:t>
              </a:r>
              <a:endParaRPr lang="en-US" sz="16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3000" y="7560"/>
              <a:ext cx="550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90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Generate summary reports</a:t>
              </a:r>
              <a:endParaRPr lang="en-US" sz="1600" dirty="0"/>
            </a:p>
          </p:txBody>
        </p:sp>
      </p:grpSp>
      <p:pic>
        <p:nvPicPr>
          <p:cNvPr id="1208007840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683" y="1242060"/>
            <a:ext cx="3824605" cy="3368040"/>
          </a:xfrm>
          <a:prstGeom prst="rect">
            <a:avLst/>
          </a:prstGeom>
        </p:spPr>
      </p:pic>
      <p:pic>
        <p:nvPicPr>
          <p:cNvPr id="1859808653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85" y="1604645"/>
            <a:ext cx="2702560" cy="2636520"/>
          </a:xfrm>
          <a:prstGeom prst="rect">
            <a:avLst/>
          </a:prstGeom>
        </p:spPr>
      </p:pic>
      <p:pic>
        <p:nvPicPr>
          <p:cNvPr id="1130431128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210" y="1440815"/>
            <a:ext cx="3943350" cy="25717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3.2 Administrator Interface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Administrator Dashboard</a:t>
            </a:r>
            <a:endParaRPr lang="en-US" sz="1600" dirty="0"/>
          </a:p>
        </p:txBody>
      </p:sp>
      <p:pic>
        <p:nvPicPr>
          <p:cNvPr id="1228067651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1636395"/>
            <a:ext cx="6191885" cy="3664585"/>
          </a:xfrm>
          <a:prstGeom prst="rect">
            <a:avLst/>
          </a:prstGeom>
        </p:spPr>
      </p:pic>
      <p:pic>
        <p:nvPicPr>
          <p:cNvPr id="26467288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970" y="3175"/>
            <a:ext cx="5828030" cy="3304540"/>
          </a:xfrm>
          <a:prstGeom prst="rect">
            <a:avLst/>
          </a:prstGeom>
        </p:spPr>
      </p:pic>
      <p:pic>
        <p:nvPicPr>
          <p:cNvPr id="1817577264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335" y="3307715"/>
            <a:ext cx="5975985" cy="35496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3.3 Manager Interface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Manager Dashboard</a:t>
            </a:r>
            <a:endParaRPr lang="en-US" sz="16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458470" y="4391025"/>
            <a:ext cx="5581650" cy="2209800"/>
            <a:chOff x="9810" y="4980"/>
            <a:chExt cx="8790" cy="3480"/>
          </a:xfrm>
        </p:grpSpPr>
        <p:sp>
          <p:nvSpPr>
            <p:cNvPr id="16" name="Shape 14"/>
            <p:cNvSpPr/>
            <p:nvPr/>
          </p:nvSpPr>
          <p:spPr>
            <a:xfrm>
              <a:off x="9810" y="4980"/>
              <a:ext cx="8790" cy="3480"/>
            </a:xfrm>
            <a:custGeom>
              <a:avLst/>
              <a:gdLst/>
              <a:ahLst/>
              <a:cxnLst/>
              <a:rect l="l" t="t" r="r" b="b"/>
              <a:pathLst>
                <a:path w="5581650" h="2209800">
                  <a:moveTo>
                    <a:pt x="0" y="0"/>
                  </a:moveTo>
                  <a:lnTo>
                    <a:pt x="5581650" y="0"/>
                  </a:lnTo>
                  <a:lnTo>
                    <a:pt x="558165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AFB"/>
            </a:solidFill>
          </p:spPr>
        </p:sp>
        <p:grpSp>
          <p:nvGrpSpPr>
            <p:cNvPr id="24" name="Group 23"/>
            <p:cNvGrpSpPr/>
            <p:nvPr/>
          </p:nvGrpSpPr>
          <p:grpSpPr>
            <a:xfrm>
              <a:off x="9810" y="4980"/>
              <a:ext cx="8624" cy="3480"/>
              <a:chOff x="9810" y="4980"/>
              <a:chExt cx="8624" cy="3480"/>
            </a:xfrm>
          </p:grpSpPr>
          <p:sp>
            <p:nvSpPr>
              <p:cNvPr id="17" name="Shape 15"/>
              <p:cNvSpPr/>
              <p:nvPr/>
            </p:nvSpPr>
            <p:spPr>
              <a:xfrm>
                <a:off x="9810" y="4980"/>
                <a:ext cx="60" cy="348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20980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209800"/>
                    </a:lnTo>
                    <a:lnTo>
                      <a:pt x="0" y="22098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46FF"/>
              </a:solidFill>
            </p:spPr>
          </p:sp>
          <p:sp>
            <p:nvSpPr>
              <p:cNvPr id="18" name="Text 16"/>
              <p:cNvSpPr/>
              <p:nvPr/>
            </p:nvSpPr>
            <p:spPr>
              <a:xfrm>
                <a:off x="10140" y="5280"/>
                <a:ext cx="8295" cy="4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350" b="1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Manager Capabilities</a:t>
                </a:r>
                <a:endParaRPr lang="en-US" sz="160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10140" y="5880"/>
                <a:ext cx="8265" cy="3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• </a:t>
                </a:r>
                <a:r>
                  <a:rPr lang="en-US" sz="1050" b="1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Sales Dashboard:</a:t>
                </a:r>
                <a:r>
                  <a:rPr lang="en-US" sz="1050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 View booking revenue by week/month/year</a:t>
                </a:r>
                <a:endParaRPr lang="en-US" sz="1600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10140" y="6300"/>
                <a:ext cx="8265" cy="3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• </a:t>
                </a:r>
                <a:r>
                  <a:rPr lang="en-US" sz="1050" b="1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Issue Management:</a:t>
                </a:r>
                <a:r>
                  <a:rPr lang="en-US" sz="1050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 View all customer issues with status</a:t>
                </a:r>
                <a:endParaRPr lang="en-US" sz="1600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10140" y="6720"/>
                <a:ext cx="8265" cy="3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• </a:t>
                </a:r>
                <a:r>
                  <a:rPr lang="en-US" sz="1050" b="1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Response System:</a:t>
                </a:r>
                <a:r>
                  <a:rPr lang="en-US" sz="1050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 Respond to customer issues</a:t>
                </a:r>
                <a:endParaRPr lang="en-US" sz="1600" dirty="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10140" y="7140"/>
                <a:ext cx="8265" cy="3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• </a:t>
                </a:r>
                <a:r>
                  <a:rPr lang="en-US" sz="1050" b="1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Assignment:</a:t>
                </a:r>
                <a:r>
                  <a:rPr lang="en-US" sz="1050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 Assign issues to Scheduler</a:t>
                </a:r>
                <a:endParaRPr lang="en-US" sz="160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10140" y="7560"/>
                <a:ext cx="8265" cy="6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050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• </a:t>
                </a:r>
                <a:r>
                  <a:rPr lang="en-US" sz="1050" b="1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Status Workflow:</a:t>
                </a:r>
                <a:r>
                  <a:rPr lang="en-US" sz="1050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 OPEN → ASSIGNED → IN_PROGRESS → DONE → CLOSED/CANCELLED</a:t>
                </a:r>
                <a:endParaRPr lang="en-US" sz="1600" dirty="0"/>
              </a:p>
            </p:txBody>
          </p:sp>
        </p:grpSp>
      </p:grpSp>
      <p:pic>
        <p:nvPicPr>
          <p:cNvPr id="1140655676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020" y="1341120"/>
            <a:ext cx="3809365" cy="2736850"/>
          </a:xfrm>
          <a:prstGeom prst="rect">
            <a:avLst/>
          </a:prstGeom>
        </p:spPr>
      </p:pic>
      <p:pic>
        <p:nvPicPr>
          <p:cNvPr id="27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760" y="57150"/>
            <a:ext cx="5499100" cy="3287395"/>
          </a:xfrm>
          <a:prstGeom prst="rect">
            <a:avLst/>
          </a:prstGeom>
        </p:spPr>
      </p:pic>
      <p:pic>
        <p:nvPicPr>
          <p:cNvPr id="1134228208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760" y="3344545"/>
            <a:ext cx="5499100" cy="3256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3.4 Scheduler Interface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Scheduler Dashboard</a:t>
            </a:r>
            <a:endParaRPr lang="en-US" sz="1600" dirty="0"/>
          </a:p>
        </p:txBody>
      </p:sp>
      <p:grpSp>
        <p:nvGrpSpPr>
          <p:cNvPr id="34" name="Group 33"/>
          <p:cNvGrpSpPr/>
          <p:nvPr/>
        </p:nvGrpSpPr>
        <p:grpSpPr>
          <a:xfrm>
            <a:off x="319405" y="4670425"/>
            <a:ext cx="3619500" cy="1960880"/>
            <a:chOff x="12790" y="1860"/>
            <a:chExt cx="5700" cy="3088"/>
          </a:xfrm>
        </p:grpSpPr>
        <p:sp>
          <p:nvSpPr>
            <p:cNvPr id="22" name="Shape 20"/>
            <p:cNvSpPr/>
            <p:nvPr/>
          </p:nvSpPr>
          <p:spPr>
            <a:xfrm>
              <a:off x="12790" y="1860"/>
              <a:ext cx="5699" cy="3076"/>
            </a:xfrm>
            <a:custGeom>
              <a:avLst/>
              <a:gdLst/>
              <a:ahLst/>
              <a:cxnLst/>
              <a:rect l="l" t="t" r="r" b="b"/>
              <a:pathLst>
                <a:path w="3686175" h="5295900">
                  <a:moveTo>
                    <a:pt x="0" y="0"/>
                  </a:moveTo>
                  <a:lnTo>
                    <a:pt x="3686175" y="0"/>
                  </a:lnTo>
                  <a:lnTo>
                    <a:pt x="3686175" y="5295900"/>
                  </a:lnTo>
                  <a:lnTo>
                    <a:pt x="0" y="5295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23" name="Shape 21"/>
            <p:cNvSpPr/>
            <p:nvPr/>
          </p:nvSpPr>
          <p:spPr>
            <a:xfrm>
              <a:off x="12790" y="1860"/>
              <a:ext cx="173" cy="3088"/>
            </a:xfrm>
            <a:custGeom>
              <a:avLst/>
              <a:gdLst/>
              <a:ahLst/>
              <a:cxnLst/>
              <a:rect l="l" t="t" r="r" b="b"/>
              <a:pathLst>
                <a:path w="38100" h="5295900">
                  <a:moveTo>
                    <a:pt x="0" y="0"/>
                  </a:moveTo>
                  <a:lnTo>
                    <a:pt x="38100" y="0"/>
                  </a:lnTo>
                  <a:lnTo>
                    <a:pt x="38100" y="5295900"/>
                  </a:lnTo>
                  <a:lnTo>
                    <a:pt x="0" y="5295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950"/>
            </a:solidFill>
          </p:spPr>
        </p:sp>
        <p:sp>
          <p:nvSpPr>
            <p:cNvPr id="24" name="Text 22"/>
            <p:cNvSpPr/>
            <p:nvPr/>
          </p:nvSpPr>
          <p:spPr>
            <a:xfrm>
              <a:off x="13060" y="2100"/>
              <a:ext cx="5430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Scheduler Functions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13060" y="2700"/>
              <a:ext cx="5400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</a:t>
              </a:r>
              <a:r>
                <a:rPr lang="en-US" sz="1050" b="1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Hall Management:</a:t>
              </a:r>
              <a:r>
                <a:rPr lang="en-US" sz="105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 Add, edit, delete halls</a:t>
              </a:r>
              <a:endParaRPr lang="en-US" sz="16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3060" y="3120"/>
              <a:ext cx="5400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</a:t>
              </a:r>
              <a:r>
                <a:rPr lang="en-US" sz="1050" b="1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Availability:</a:t>
              </a:r>
              <a:r>
                <a:rPr lang="en-US" sz="105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 Set hall availability periods</a:t>
              </a:r>
              <a:endParaRPr lang="en-US" sz="1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3060" y="3540"/>
              <a:ext cx="5400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</a:t>
              </a:r>
              <a:r>
                <a:rPr lang="en-US" sz="1050" b="1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Maintenance:</a:t>
              </a:r>
              <a:r>
                <a:rPr lang="en-US" sz="105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 Schedule maintenance windows</a:t>
              </a:r>
              <a:endParaRPr lang="en-US" sz="16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3060" y="3960"/>
              <a:ext cx="5400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</a:t>
              </a:r>
              <a:r>
                <a:rPr lang="en-US" sz="1050" b="1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Booking View:</a:t>
              </a:r>
              <a:r>
                <a:rPr lang="en-US" sz="105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 View all customer bookings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3060" y="4380"/>
              <a:ext cx="5400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</a:t>
              </a:r>
              <a:r>
                <a:rPr lang="en-US" sz="1050" b="1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Issue Tracking:</a:t>
              </a:r>
              <a:r>
                <a:rPr lang="en-US" sz="105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 Track assigned issues</a:t>
              </a:r>
              <a:endParaRPr lang="en-US" sz="1600" dirty="0"/>
            </a:p>
          </p:txBody>
        </p:sp>
      </p:grpSp>
      <p:pic>
        <p:nvPicPr>
          <p:cNvPr id="1366557371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855" y="1175385"/>
            <a:ext cx="3161030" cy="3500755"/>
          </a:xfrm>
          <a:prstGeom prst="rect">
            <a:avLst/>
          </a:prstGeom>
        </p:spPr>
      </p:pic>
      <p:pic>
        <p:nvPicPr>
          <p:cNvPr id="115464798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315" y="675640"/>
            <a:ext cx="5098415" cy="3557270"/>
          </a:xfrm>
          <a:prstGeom prst="rect">
            <a:avLst/>
          </a:prstGeom>
        </p:spPr>
      </p:pic>
      <p:pic>
        <p:nvPicPr>
          <p:cNvPr id="1644295241" name="Picture 1"/>
          <p:cNvPicPr>
            <a:picLocks noChangeAspect="1"/>
          </p:cNvPicPr>
          <p:nvPr/>
        </p:nvPicPr>
        <p:blipFill>
          <a:blip r:embed="rId3"/>
          <a:srcRect b="61151"/>
          <a:stretch>
            <a:fillRect/>
          </a:stretch>
        </p:blipFill>
        <p:spPr>
          <a:xfrm>
            <a:off x="4029710" y="4625975"/>
            <a:ext cx="7952740" cy="1835150"/>
          </a:xfrm>
          <a:prstGeom prst="rect">
            <a:avLst/>
          </a:prstGeom>
        </p:spPr>
      </p:pic>
      <p:pic>
        <p:nvPicPr>
          <p:cNvPr id="35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090" y="675640"/>
            <a:ext cx="2966720" cy="2485390"/>
          </a:xfrm>
          <a:prstGeom prst="rect">
            <a:avLst/>
          </a:prstGeom>
        </p:spPr>
      </p:pic>
      <p:grpSp>
        <p:nvGrpSpPr>
          <p:cNvPr id="38" name="Group 37"/>
          <p:cNvGrpSpPr/>
          <p:nvPr/>
        </p:nvGrpSpPr>
        <p:grpSpPr>
          <a:xfrm>
            <a:off x="9102090" y="3531870"/>
            <a:ext cx="3058160" cy="585470"/>
            <a:chOff x="12161" y="8414"/>
            <a:chExt cx="5280" cy="854"/>
          </a:xfrm>
        </p:grpSpPr>
        <p:sp>
          <p:nvSpPr>
            <p:cNvPr id="36" name="Shape 28"/>
            <p:cNvSpPr/>
            <p:nvPr/>
          </p:nvSpPr>
          <p:spPr>
            <a:xfrm>
              <a:off x="12161" y="8414"/>
              <a:ext cx="5280" cy="855"/>
            </a:xfrm>
            <a:custGeom>
              <a:avLst/>
              <a:gdLst/>
              <a:ahLst/>
              <a:cxnLst/>
              <a:rect l="l" t="t" r="r" b="b"/>
              <a:pathLst>
                <a:path w="3352800" h="542925">
                  <a:moveTo>
                    <a:pt x="38102" y="0"/>
                  </a:moveTo>
                  <a:lnTo>
                    <a:pt x="3314698" y="0"/>
                  </a:lnTo>
                  <a:cubicBezTo>
                    <a:pt x="3335741" y="0"/>
                    <a:pt x="3352800" y="17059"/>
                    <a:pt x="3352800" y="38102"/>
                  </a:cubicBezTo>
                  <a:lnTo>
                    <a:pt x="3352800" y="504823"/>
                  </a:lnTo>
                  <a:cubicBezTo>
                    <a:pt x="3352800" y="525866"/>
                    <a:pt x="3335741" y="542925"/>
                    <a:pt x="3314698" y="542925"/>
                  </a:cubicBezTo>
                  <a:lnTo>
                    <a:pt x="38102" y="542925"/>
                  </a:lnTo>
                  <a:cubicBezTo>
                    <a:pt x="17059" y="542925"/>
                    <a:pt x="0" y="525866"/>
                    <a:pt x="0" y="504823"/>
                  </a:cubicBezTo>
                  <a:lnTo>
                    <a:pt x="0" y="38102"/>
                  </a:lnTo>
                  <a:cubicBezTo>
                    <a:pt x="0" y="17073"/>
                    <a:pt x="17073" y="0"/>
                    <a:pt x="38102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</p:spPr>
        </p:sp>
        <p:sp>
          <p:nvSpPr>
            <p:cNvPr id="37" name="Text 29"/>
            <p:cNvSpPr/>
            <p:nvPr/>
          </p:nvSpPr>
          <p:spPr>
            <a:xfrm>
              <a:off x="12304" y="8601"/>
              <a:ext cx="499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>
                <a:lnSpc>
                  <a:spcPct val="110000"/>
                </a:lnSpc>
              </a:pPr>
              <a:r>
                <a:rPr lang="en-US" sz="900" b="1" dirty="0">
                  <a:solidFill>
                    <a:srgbClr val="6B7280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Note:</a:t>
              </a:r>
              <a:r>
                <a:rPr lang="en-US" sz="900" dirty="0">
                  <a:solidFill>
                    <a:srgbClr val="6B7280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 Scheduler can set start/end dates and times with optional remarks for both availability and maintenance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3.5 Customer Interface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Customer Dashboard</a:t>
            </a:r>
            <a:endParaRPr lang="en-US" sz="1600" dirty="0"/>
          </a:p>
        </p:txBody>
      </p:sp>
      <p:grpSp>
        <p:nvGrpSpPr>
          <p:cNvPr id="36" name="Group 35"/>
          <p:cNvGrpSpPr/>
          <p:nvPr/>
        </p:nvGrpSpPr>
        <p:grpSpPr>
          <a:xfrm>
            <a:off x="554990" y="4170680"/>
            <a:ext cx="2752090" cy="2491740"/>
            <a:chOff x="14265" y="1860"/>
            <a:chExt cx="4334" cy="3924"/>
          </a:xfrm>
        </p:grpSpPr>
        <p:sp>
          <p:nvSpPr>
            <p:cNvPr id="25" name="Shape 23"/>
            <p:cNvSpPr/>
            <p:nvPr/>
          </p:nvSpPr>
          <p:spPr>
            <a:xfrm>
              <a:off x="14265" y="1860"/>
              <a:ext cx="4335" cy="3925"/>
            </a:xfrm>
            <a:custGeom>
              <a:avLst/>
              <a:gdLst/>
              <a:ahLst/>
              <a:cxnLst/>
              <a:rect l="l" t="t" r="r" b="b"/>
              <a:pathLst>
                <a:path w="2752725" h="5295900">
                  <a:moveTo>
                    <a:pt x="0" y="0"/>
                  </a:moveTo>
                  <a:lnTo>
                    <a:pt x="2752725" y="0"/>
                  </a:lnTo>
                  <a:lnTo>
                    <a:pt x="2752725" y="5295900"/>
                  </a:lnTo>
                  <a:lnTo>
                    <a:pt x="0" y="5295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26" name="Shape 24"/>
            <p:cNvSpPr/>
            <p:nvPr/>
          </p:nvSpPr>
          <p:spPr>
            <a:xfrm>
              <a:off x="14265" y="1860"/>
              <a:ext cx="120" cy="3902"/>
            </a:xfrm>
            <a:custGeom>
              <a:avLst/>
              <a:gdLst/>
              <a:ahLst/>
              <a:cxnLst/>
              <a:rect l="l" t="t" r="r" b="b"/>
              <a:pathLst>
                <a:path w="38100" h="5295900">
                  <a:moveTo>
                    <a:pt x="0" y="0"/>
                  </a:moveTo>
                  <a:lnTo>
                    <a:pt x="38100" y="0"/>
                  </a:lnTo>
                  <a:lnTo>
                    <a:pt x="38100" y="5295900"/>
                  </a:lnTo>
                  <a:lnTo>
                    <a:pt x="0" y="5295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7FFF"/>
            </a:solidFill>
          </p:spPr>
        </p:sp>
        <p:sp>
          <p:nvSpPr>
            <p:cNvPr id="27" name="Text 25"/>
            <p:cNvSpPr/>
            <p:nvPr/>
          </p:nvSpPr>
          <p:spPr>
            <a:xfrm>
              <a:off x="14535" y="2100"/>
              <a:ext cx="3960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Customer Features</a:t>
              </a:r>
              <a:endParaRPr lang="en-US" sz="16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4535" y="2700"/>
              <a:ext cx="391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90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Browse available halls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4535" y="3060"/>
              <a:ext cx="391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90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Select event date/time (8AM-6PM)</a:t>
              </a:r>
              <a:endParaRPr lang="en-US" sz="16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14535" y="3420"/>
              <a:ext cx="391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90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Automatic total calculation</a:t>
              </a:r>
              <a:endParaRPr lang="en-US" sz="16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14535" y="3780"/>
              <a:ext cx="391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90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View booking history</a:t>
              </a:r>
              <a:endParaRPr lang="en-US" sz="16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14535" y="4140"/>
              <a:ext cx="391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90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Cancel eligible bookings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14535" y="4500"/>
              <a:ext cx="391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90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Multiple payment methods</a:t>
              </a:r>
              <a:endParaRPr lang="en-US" sz="16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4535" y="4860"/>
              <a:ext cx="391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90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Report issues</a:t>
              </a:r>
              <a:endParaRPr lang="en-US" sz="16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4535" y="5220"/>
              <a:ext cx="391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900" dirty="0">
                  <a:solidFill>
                    <a:srgbClr val="1F2937"/>
                  </a:solidFill>
                  <a:latin typeface="Sorts Mill Goudy" pitchFamily="34" charset="0"/>
                  <a:ea typeface="Sorts Mill Goudy" pitchFamily="34" charset="-122"/>
                  <a:cs typeface="Sorts Mill Goudy" pitchFamily="34" charset="-120"/>
                </a:rPr>
                <a:t>• Update profile</a:t>
              </a:r>
              <a:endParaRPr lang="en-US" sz="1600" dirty="0"/>
            </a:p>
          </p:txBody>
        </p:sp>
      </p:grpSp>
      <p:pic>
        <p:nvPicPr>
          <p:cNvPr id="1350489188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735" y="1092835"/>
            <a:ext cx="2665730" cy="3014345"/>
          </a:xfrm>
          <a:prstGeom prst="rect">
            <a:avLst/>
          </a:prstGeom>
        </p:spPr>
      </p:pic>
      <p:pic>
        <p:nvPicPr>
          <p:cNvPr id="1489564510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715" y="1104900"/>
            <a:ext cx="3950970" cy="2717165"/>
          </a:xfrm>
          <a:prstGeom prst="rect">
            <a:avLst/>
          </a:prstGeom>
        </p:spPr>
      </p:pic>
      <p:pic>
        <p:nvPicPr>
          <p:cNvPr id="37" name="Picture 1"/>
          <p:cNvPicPr>
            <a:picLocks noChangeAspect="1"/>
          </p:cNvPicPr>
          <p:nvPr/>
        </p:nvPicPr>
        <p:blipFill>
          <a:blip r:embed="rId3"/>
          <a:srcRect l="14850" t="19509" r="14380" b="18064"/>
          <a:stretch>
            <a:fillRect/>
          </a:stretch>
        </p:blipFill>
        <p:spPr>
          <a:xfrm>
            <a:off x="7273925" y="1161415"/>
            <a:ext cx="4878705" cy="2545715"/>
          </a:xfrm>
          <a:prstGeom prst="rect">
            <a:avLst/>
          </a:prstGeom>
        </p:spPr>
      </p:pic>
      <p:pic>
        <p:nvPicPr>
          <p:cNvPr id="1525066611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420" y="3938270"/>
            <a:ext cx="4410710" cy="2605405"/>
          </a:xfrm>
          <a:prstGeom prst="rect">
            <a:avLst/>
          </a:prstGeom>
        </p:spPr>
      </p:pic>
      <p:pic>
        <p:nvPicPr>
          <p:cNvPr id="117416374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0" y="3939540"/>
            <a:ext cx="4281805" cy="25171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3.5 Customer Interface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Customer Dashboard</a:t>
            </a:r>
            <a:endParaRPr lang="en-US" sz="1600" dirty="0"/>
          </a:p>
        </p:txBody>
      </p:sp>
      <p:pic>
        <p:nvPicPr>
          <p:cNvPr id="155104967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497965"/>
            <a:ext cx="5943600" cy="3470910"/>
          </a:xfrm>
          <a:prstGeom prst="rect">
            <a:avLst/>
          </a:prstGeom>
        </p:spPr>
      </p:pic>
      <p:pic>
        <p:nvPicPr>
          <p:cNvPr id="112921399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283" y="1732598"/>
            <a:ext cx="3305175" cy="30003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F9FAFB"/>
              </a:gs>
            </a:gsLst>
            <a:lin ang="2700000" scaled="1"/>
          </a:gradFill>
        </p:spPr>
      </p:sp>
      <p:pic>
        <p:nvPicPr>
          <p:cNvPr id="3" name="Image 0" descr="https://kimi-web-img.moonshot.cn/img/www.shutterstock.com/7fe0750b9e880871ee14aff6c2a70d750a2cb6ab.jpg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5" name="Text 2"/>
          <p:cNvSpPr/>
          <p:nvPr/>
        </p:nvSpPr>
        <p:spPr>
          <a:xfrm>
            <a:off x="381000" y="1771650"/>
            <a:ext cx="120396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8B0000">
                    <a:alpha val="2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143250"/>
            <a:ext cx="1171575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Object-Oriented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Concepts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5148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Text 5"/>
          <p:cNvSpPr/>
          <p:nvPr/>
        </p:nvSpPr>
        <p:spPr>
          <a:xfrm>
            <a:off x="381000" y="4781550"/>
            <a:ext cx="1154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Implementation and Justification of OOP Principles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4.1 Encapsulation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Hiding and Controlled Access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81100"/>
            <a:ext cx="5581650" cy="1095375"/>
          </a:xfrm>
          <a:custGeom>
            <a:avLst/>
            <a:gdLst/>
            <a:ahLst/>
            <a:cxnLst/>
            <a:rect l="l" t="t" r="r" b="b"/>
            <a:pathLst>
              <a:path w="5581650" h="1095375">
                <a:moveTo>
                  <a:pt x="0" y="0"/>
                </a:moveTo>
                <a:lnTo>
                  <a:pt x="5581650" y="0"/>
                </a:lnTo>
                <a:lnTo>
                  <a:pt x="558165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400050" y="1181100"/>
            <a:ext cx="38100" cy="1095375"/>
          </a:xfrm>
          <a:custGeom>
            <a:avLst/>
            <a:gdLst/>
            <a:ahLst/>
            <a:cxnLst/>
            <a:rect l="l" t="t" r="r" b="b"/>
            <a:pathLst>
              <a:path w="38100" h="1095375">
                <a:moveTo>
                  <a:pt x="0" y="0"/>
                </a:moveTo>
                <a:lnTo>
                  <a:pt x="38100" y="0"/>
                </a:lnTo>
                <a:lnTo>
                  <a:pt x="3810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571500" y="1333500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676400"/>
            <a:ext cx="5324475" cy="447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Encapsulation is an object-oriented principle of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hiding data in an object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by making fields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private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and providing controlled access through public getter and setter methods.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2424430"/>
            <a:ext cx="76200" cy="4116070"/>
          </a:xfrm>
          <a:custGeom>
            <a:avLst/>
            <a:gdLst/>
            <a:ahLst/>
            <a:cxnLst/>
            <a:rect l="l" t="t" r="r" b="b"/>
            <a:pathLst>
              <a:path w="38100" h="2514600">
                <a:moveTo>
                  <a:pt x="0" y="0"/>
                </a:moveTo>
                <a:lnTo>
                  <a:pt x="38100" y="0"/>
                </a:lnTo>
                <a:lnTo>
                  <a:pt x="381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571500" y="2576513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Code Implementation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5788" y="2919413"/>
            <a:ext cx="5243513" cy="571500"/>
          </a:xfrm>
          <a:custGeom>
            <a:avLst/>
            <a:gdLst/>
            <a:ahLst/>
            <a:cxnLst/>
            <a:rect l="l" t="t" r="r" b="b"/>
            <a:pathLst>
              <a:path w="5243513" h="571500">
                <a:moveTo>
                  <a:pt x="28575" y="0"/>
                </a:moveTo>
                <a:lnTo>
                  <a:pt x="5205411" y="0"/>
                </a:lnTo>
                <a:cubicBezTo>
                  <a:pt x="5226454" y="0"/>
                  <a:pt x="5243513" y="17059"/>
                  <a:pt x="5243513" y="38102"/>
                </a:cubicBezTo>
                <a:lnTo>
                  <a:pt x="5243513" y="533398"/>
                </a:lnTo>
                <a:cubicBezTo>
                  <a:pt x="5243513" y="554441"/>
                  <a:pt x="5226454" y="571500"/>
                  <a:pt x="5205411" y="571500"/>
                </a:cubicBezTo>
                <a:lnTo>
                  <a:pt x="28575" y="571500"/>
                </a:lnTo>
                <a:cubicBezTo>
                  <a:pt x="12804" y="571500"/>
                  <a:pt x="0" y="558696"/>
                  <a:pt x="0" y="5429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3" name="Shape 21"/>
          <p:cNvSpPr/>
          <p:nvPr/>
        </p:nvSpPr>
        <p:spPr>
          <a:xfrm>
            <a:off x="6229350" y="1181100"/>
            <a:ext cx="5581650" cy="4020820"/>
          </a:xfrm>
          <a:custGeom>
            <a:avLst/>
            <a:gdLst/>
            <a:ahLst/>
            <a:cxnLst/>
            <a:rect l="l" t="t" r="r" b="b"/>
            <a:pathLst>
              <a:path w="5581650" h="5295900">
                <a:moveTo>
                  <a:pt x="0" y="0"/>
                </a:moveTo>
                <a:lnTo>
                  <a:pt x="5581650" y="0"/>
                </a:lnTo>
                <a:lnTo>
                  <a:pt x="5581650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4" name="Shape 22"/>
          <p:cNvSpPr/>
          <p:nvPr/>
        </p:nvSpPr>
        <p:spPr>
          <a:xfrm>
            <a:off x="6229350" y="1181100"/>
            <a:ext cx="76200" cy="4042410"/>
          </a:xfrm>
          <a:custGeom>
            <a:avLst/>
            <a:gdLst/>
            <a:ahLst/>
            <a:cxnLst/>
            <a:rect l="l" t="t" r="r" b="b"/>
            <a:pathLst>
              <a:path w="38100" h="5295900">
                <a:moveTo>
                  <a:pt x="0" y="0"/>
                </a:moveTo>
                <a:lnTo>
                  <a:pt x="38100" y="0"/>
                </a:lnTo>
                <a:lnTo>
                  <a:pt x="38100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5" name="Text 23"/>
          <p:cNvSpPr/>
          <p:nvPr/>
        </p:nvSpPr>
        <p:spPr>
          <a:xfrm>
            <a:off x="6438900" y="1371600"/>
            <a:ext cx="527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Justification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34138" y="1828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7" name="Text 25"/>
          <p:cNvSpPr/>
          <p:nvPr/>
        </p:nvSpPr>
        <p:spPr>
          <a:xfrm>
            <a:off x="6738193" y="1790700"/>
            <a:ext cx="4962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Protection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38193" y="2057400"/>
            <a:ext cx="4953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Safeguards crucial information such as user passwords and financial amounts from unauthorized manipulation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77000" y="26289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0" name="Text 28"/>
          <p:cNvSpPr/>
          <p:nvPr/>
        </p:nvSpPr>
        <p:spPr>
          <a:xfrm>
            <a:off x="6773466" y="2590800"/>
            <a:ext cx="4924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Controlled Access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73466" y="2857500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customerPassword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remains protected with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getPassword()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and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setPassword()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53188" y="3448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3" name="Text 31"/>
          <p:cNvSpPr/>
          <p:nvPr/>
        </p:nvSpPr>
        <p:spPr>
          <a:xfrm>
            <a:off x="6767661" y="3409950"/>
            <a:ext cx="4924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Validation Logic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67661" y="3676650"/>
            <a:ext cx="4914900" cy="39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setManagerResponse()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includes null-check, demonstrating setters can enforce data rules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74619" y="42576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6" name="Text 34"/>
          <p:cNvSpPr/>
          <p:nvPr/>
        </p:nvSpPr>
        <p:spPr>
          <a:xfrm>
            <a:off x="6791325" y="4219575"/>
            <a:ext cx="4371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91325" y="4486275"/>
            <a:ext cx="4362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Ensures data integrity across all .txt file operations managed by FileManager</a:t>
            </a:r>
            <a:endParaRPr lang="en-US" sz="1600" dirty="0"/>
          </a:p>
        </p:txBody>
      </p:sp>
      <p:pic>
        <p:nvPicPr>
          <p:cNvPr id="4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05" y="2912428"/>
            <a:ext cx="4069080" cy="2294255"/>
          </a:xfrm>
          <a:prstGeom prst="rect">
            <a:avLst/>
          </a:prstGeom>
        </p:spPr>
      </p:pic>
      <p:pic>
        <p:nvPicPr>
          <p:cNvPr id="4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05" y="5381943"/>
            <a:ext cx="5943600" cy="8693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4.1 Encapsulation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Hiding and Controlled Access</a:t>
            </a:r>
            <a:endParaRPr lang="en-US" sz="1600" dirty="0"/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065" y="1104900"/>
            <a:ext cx="6185535" cy="3934460"/>
          </a:xfrm>
          <a:prstGeom prst="rect">
            <a:avLst/>
          </a:prstGeom>
        </p:spPr>
      </p:pic>
      <p:pic>
        <p:nvPicPr>
          <p:cNvPr id="1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83" y="3830955"/>
            <a:ext cx="5473065" cy="2423160"/>
          </a:xfrm>
          <a:prstGeom prst="rect">
            <a:avLst/>
          </a:prstGeom>
        </p:spPr>
      </p:pic>
      <p:pic>
        <p:nvPicPr>
          <p:cNvPr id="1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37298"/>
            <a:ext cx="4069080" cy="22942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4.2 Inheritance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Code Reuse and "Is-A" Relationships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81100"/>
            <a:ext cx="5581650" cy="1085850"/>
          </a:xfrm>
          <a:custGeom>
            <a:avLst/>
            <a:gdLst/>
            <a:ahLst/>
            <a:cxnLst/>
            <a:rect l="l" t="t" r="r" b="b"/>
            <a:pathLst>
              <a:path w="5581650" h="1085850">
                <a:moveTo>
                  <a:pt x="0" y="0"/>
                </a:moveTo>
                <a:lnTo>
                  <a:pt x="5581650" y="0"/>
                </a:lnTo>
                <a:lnTo>
                  <a:pt x="558165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400050" y="11811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571500" y="1333500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676400"/>
            <a:ext cx="5324475" cy="438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Inheritance allows a subclass to acquire attributes and methods of a superclass, establishing "is-a" relationships and enabling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code reuse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flipH="1">
            <a:off x="386080" y="2414905"/>
            <a:ext cx="76200" cy="4283710"/>
          </a:xfrm>
          <a:custGeom>
            <a:avLst/>
            <a:gdLst/>
            <a:ahLst/>
            <a:cxnLst/>
            <a:rect l="l" t="t" r="r" b="b"/>
            <a:pathLst>
              <a:path w="38100" h="3429000">
                <a:moveTo>
                  <a:pt x="0" y="0"/>
                </a:moveTo>
                <a:lnTo>
                  <a:pt x="38100" y="0"/>
                </a:lnTo>
                <a:lnTo>
                  <a:pt x="381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556895" y="2438083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Code Implementation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9350" y="1181100"/>
            <a:ext cx="5581650" cy="5295900"/>
          </a:xfrm>
          <a:custGeom>
            <a:avLst/>
            <a:gdLst/>
            <a:ahLst/>
            <a:cxnLst/>
            <a:rect l="l" t="t" r="r" b="b"/>
            <a:pathLst>
              <a:path w="5581650" h="5295900">
                <a:moveTo>
                  <a:pt x="0" y="0"/>
                </a:moveTo>
                <a:lnTo>
                  <a:pt x="5581650" y="0"/>
                </a:lnTo>
                <a:lnTo>
                  <a:pt x="5581650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32" name="Shape 30"/>
          <p:cNvSpPr/>
          <p:nvPr/>
        </p:nvSpPr>
        <p:spPr>
          <a:xfrm>
            <a:off x="6229350" y="1181100"/>
            <a:ext cx="38100" cy="5295900"/>
          </a:xfrm>
          <a:custGeom>
            <a:avLst/>
            <a:gdLst/>
            <a:ahLst/>
            <a:cxnLst/>
            <a:rect l="l" t="t" r="r" b="b"/>
            <a:pathLst>
              <a:path w="38100" h="5295900">
                <a:moveTo>
                  <a:pt x="0" y="0"/>
                </a:moveTo>
                <a:lnTo>
                  <a:pt x="38100" y="0"/>
                </a:lnTo>
                <a:lnTo>
                  <a:pt x="38100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3" name="Text 31"/>
          <p:cNvSpPr/>
          <p:nvPr/>
        </p:nvSpPr>
        <p:spPr>
          <a:xfrm>
            <a:off x="6438900" y="1371600"/>
            <a:ext cx="527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Justification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31756" y="18288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71438" y="0"/>
                </a:moveTo>
                <a:cubicBezTo>
                  <a:pt x="58303" y="0"/>
                  <a:pt x="47625" y="10678"/>
                  <a:pt x="47625" y="23812"/>
                </a:cubicBezTo>
                <a:lnTo>
                  <a:pt x="47625" y="119063"/>
                </a:lnTo>
                <a:cubicBezTo>
                  <a:pt x="47625" y="132197"/>
                  <a:pt x="58303" y="142875"/>
                  <a:pt x="71438" y="142875"/>
                </a:cubicBezTo>
                <a:lnTo>
                  <a:pt x="142875" y="142875"/>
                </a:lnTo>
                <a:cubicBezTo>
                  <a:pt x="156009" y="142875"/>
                  <a:pt x="166688" y="132197"/>
                  <a:pt x="166688" y="119063"/>
                </a:cubicBezTo>
                <a:lnTo>
                  <a:pt x="166688" y="44425"/>
                </a:lnTo>
                <a:cubicBezTo>
                  <a:pt x="166688" y="37951"/>
                  <a:pt x="164046" y="31738"/>
                  <a:pt x="159358" y="27236"/>
                </a:cubicBezTo>
                <a:lnTo>
                  <a:pt x="137889" y="6623"/>
                </a:lnTo>
                <a:cubicBezTo>
                  <a:pt x="133462" y="2381"/>
                  <a:pt x="127546" y="0"/>
                  <a:pt x="121407" y="0"/>
                </a:cubicBezTo>
                <a:lnTo>
                  <a:pt x="71438" y="0"/>
                </a:lnTo>
                <a:close/>
                <a:moveTo>
                  <a:pt x="23812" y="47625"/>
                </a:moveTo>
                <a:cubicBezTo>
                  <a:pt x="10678" y="47625"/>
                  <a:pt x="0" y="58303"/>
                  <a:pt x="0" y="71438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95250" y="190500"/>
                </a:lnTo>
                <a:cubicBezTo>
                  <a:pt x="108384" y="190500"/>
                  <a:pt x="119063" y="179822"/>
                  <a:pt x="119063" y="166688"/>
                </a:cubicBezTo>
                <a:lnTo>
                  <a:pt x="119063" y="160734"/>
                </a:lnTo>
                <a:lnTo>
                  <a:pt x="95250" y="160734"/>
                </a:lnTo>
                <a:lnTo>
                  <a:pt x="95250" y="166688"/>
                </a:lnTo>
                <a:lnTo>
                  <a:pt x="23812" y="166688"/>
                </a:lnTo>
                <a:lnTo>
                  <a:pt x="23812" y="71438"/>
                </a:lnTo>
                <a:lnTo>
                  <a:pt x="29766" y="71438"/>
                </a:lnTo>
                <a:lnTo>
                  <a:pt x="29766" y="4762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5" name="Text 33"/>
          <p:cNvSpPr/>
          <p:nvPr/>
        </p:nvSpPr>
        <p:spPr>
          <a:xfrm>
            <a:off x="6701433" y="1790700"/>
            <a:ext cx="4991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Eliminates Redundancy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01433" y="2057400"/>
            <a:ext cx="4981575" cy="39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Without inheritance, common fields (login credentials, block status) and methods (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toCSV()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) would be duplicated across all four user classes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38900" y="2638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8" name="Text 36"/>
          <p:cNvSpPr/>
          <p:nvPr/>
        </p:nvSpPr>
        <p:spPr>
          <a:xfrm>
            <a:off x="6747421" y="2600325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Unified Processing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47421" y="2867025"/>
            <a:ext cx="4943475" cy="39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FileManager can iterate through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List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and call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toCSV()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 each user regardless of actual role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65094" y="34480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1" name="Text 39"/>
          <p:cNvSpPr/>
          <p:nvPr/>
        </p:nvSpPr>
        <p:spPr>
          <a:xfrm>
            <a:off x="6772126" y="3409950"/>
            <a:ext cx="4924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Extensibility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72126" y="3676650"/>
            <a:ext cx="49149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New user roles can be added by simply extending User class without modifying existing code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43663" y="4214813"/>
            <a:ext cx="5172075" cy="628650"/>
          </a:xfrm>
          <a:custGeom>
            <a:avLst/>
            <a:gdLst/>
            <a:ahLst/>
            <a:cxnLst/>
            <a:rect l="l" t="t" r="r" b="b"/>
            <a:pathLst>
              <a:path w="5172075" h="628650">
                <a:moveTo>
                  <a:pt x="38102" y="0"/>
                </a:moveTo>
                <a:lnTo>
                  <a:pt x="5133973" y="0"/>
                </a:lnTo>
                <a:cubicBezTo>
                  <a:pt x="5155016" y="0"/>
                  <a:pt x="5172075" y="17059"/>
                  <a:pt x="5172075" y="38102"/>
                </a:cubicBezTo>
                <a:lnTo>
                  <a:pt x="5172075" y="590548"/>
                </a:lnTo>
                <a:cubicBezTo>
                  <a:pt x="5172075" y="611591"/>
                  <a:pt x="5155016" y="628650"/>
                  <a:pt x="5133973" y="628650"/>
                </a:cubicBezTo>
                <a:lnTo>
                  <a:pt x="38102" y="628650"/>
                </a:lnTo>
                <a:cubicBezTo>
                  <a:pt x="17059" y="628650"/>
                  <a:pt x="0" y="611591"/>
                  <a:pt x="0" y="5905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2725" y="4333875"/>
            <a:ext cx="5000625" cy="39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Benefit: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All subclasses inherit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toCSV()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method from User, enabling uniform CSV serialization across all user types through a shared User reference</a:t>
            </a:r>
            <a:endParaRPr lang="en-US" sz="1600" dirty="0"/>
          </a:p>
        </p:txBody>
      </p:sp>
      <p:pic>
        <p:nvPicPr>
          <p:cNvPr id="4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85" y="2762250"/>
            <a:ext cx="5368290" cy="1478280"/>
          </a:xfrm>
          <a:prstGeom prst="rect">
            <a:avLst/>
          </a:prstGeom>
        </p:spPr>
      </p:pic>
      <p:pic>
        <p:nvPicPr>
          <p:cNvPr id="4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65" y="4297363"/>
            <a:ext cx="5105400" cy="23831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4.2 Inheritance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Code Reuse and "Is-A" Relationships</a:t>
            </a:r>
            <a:endParaRPr lang="en-US" sz="1600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192530"/>
            <a:ext cx="5943600" cy="1570990"/>
          </a:xfrm>
          <a:prstGeom prst="rect">
            <a:avLst/>
          </a:prstGeom>
        </p:spPr>
      </p:pic>
      <p:pic>
        <p:nvPicPr>
          <p:cNvPr id="11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445" y="2879725"/>
            <a:ext cx="5943600" cy="1731010"/>
          </a:xfrm>
          <a:prstGeom prst="rect">
            <a:avLst/>
          </a:prstGeom>
        </p:spPr>
      </p:pic>
      <p:pic>
        <p:nvPicPr>
          <p:cNvPr id="12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850" y="4726940"/>
            <a:ext cx="5943600" cy="20396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4.3 Polymorphism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Runtime Behavior and Method Overriding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81100"/>
            <a:ext cx="5581650" cy="1085850"/>
          </a:xfrm>
          <a:custGeom>
            <a:avLst/>
            <a:gdLst/>
            <a:ahLst/>
            <a:cxnLst/>
            <a:rect l="l" t="t" r="r" b="b"/>
            <a:pathLst>
              <a:path w="5581650" h="1085850">
                <a:moveTo>
                  <a:pt x="0" y="0"/>
                </a:moveTo>
                <a:lnTo>
                  <a:pt x="5581650" y="0"/>
                </a:lnTo>
                <a:lnTo>
                  <a:pt x="558165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400050" y="11811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571500" y="1333500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676400"/>
            <a:ext cx="5324475" cy="438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Polymorphism enables the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same method call to have different behaviors at runtime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based on the actual object type, allowing method overriding.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29350" y="1181100"/>
            <a:ext cx="5581650" cy="5295900"/>
          </a:xfrm>
          <a:custGeom>
            <a:avLst/>
            <a:gdLst/>
            <a:ahLst/>
            <a:cxnLst/>
            <a:rect l="l" t="t" r="r" b="b"/>
            <a:pathLst>
              <a:path w="5581650" h="5295900">
                <a:moveTo>
                  <a:pt x="0" y="0"/>
                </a:moveTo>
                <a:lnTo>
                  <a:pt x="5581650" y="0"/>
                </a:lnTo>
                <a:lnTo>
                  <a:pt x="5581650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36" name="Shape 34"/>
          <p:cNvSpPr/>
          <p:nvPr/>
        </p:nvSpPr>
        <p:spPr>
          <a:xfrm>
            <a:off x="6229350" y="1181100"/>
            <a:ext cx="38100" cy="5295900"/>
          </a:xfrm>
          <a:custGeom>
            <a:avLst/>
            <a:gdLst/>
            <a:ahLst/>
            <a:cxnLst/>
            <a:rect l="l" t="t" r="r" b="b"/>
            <a:pathLst>
              <a:path w="38100" h="5295900">
                <a:moveTo>
                  <a:pt x="0" y="0"/>
                </a:moveTo>
                <a:lnTo>
                  <a:pt x="38100" y="0"/>
                </a:lnTo>
                <a:lnTo>
                  <a:pt x="38100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7" name="Text 35"/>
          <p:cNvSpPr/>
          <p:nvPr/>
        </p:nvSpPr>
        <p:spPr>
          <a:xfrm>
            <a:off x="6438900" y="1371600"/>
            <a:ext cx="527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Justification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24613" y="18288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27856" y="49374"/>
                </a:moveTo>
                <a:lnTo>
                  <a:pt x="198090" y="96999"/>
                </a:lnTo>
                <a:cubicBezTo>
                  <a:pt x="196528" y="99492"/>
                  <a:pt x="193849" y="101054"/>
                  <a:pt x="190909" y="101203"/>
                </a:cubicBezTo>
                <a:cubicBezTo>
                  <a:pt x="187970" y="101352"/>
                  <a:pt x="185142" y="100013"/>
                  <a:pt x="183393" y="97631"/>
                </a:cubicBezTo>
                <a:lnTo>
                  <a:pt x="165534" y="73819"/>
                </a:lnTo>
                <a:cubicBezTo>
                  <a:pt x="162558" y="69875"/>
                  <a:pt x="163376" y="64294"/>
                  <a:pt x="167320" y="61317"/>
                </a:cubicBezTo>
                <a:cubicBezTo>
                  <a:pt x="171264" y="58341"/>
                  <a:pt x="176845" y="59159"/>
                  <a:pt x="179822" y="63103"/>
                </a:cubicBezTo>
                <a:lnTo>
                  <a:pt x="189867" y="76498"/>
                </a:lnTo>
                <a:lnTo>
                  <a:pt x="212713" y="39923"/>
                </a:lnTo>
                <a:cubicBezTo>
                  <a:pt x="215317" y="35756"/>
                  <a:pt x="220824" y="34454"/>
                  <a:pt x="225028" y="37095"/>
                </a:cubicBezTo>
                <a:cubicBezTo>
                  <a:pt x="229233" y="39737"/>
                  <a:pt x="230498" y="45207"/>
                  <a:pt x="227856" y="49411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9" name="Text 37"/>
          <p:cNvSpPr/>
          <p:nvPr/>
        </p:nvSpPr>
        <p:spPr>
          <a:xfrm>
            <a:off x="6759476" y="1790700"/>
            <a:ext cx="4933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Flexible Login System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59476" y="2057400"/>
            <a:ext cx="4924425" cy="39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Login system works with a single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User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reference without knowing the specific type until runtime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19850" y="2638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2" name="Text 40"/>
          <p:cNvSpPr/>
          <p:nvPr/>
        </p:nvSpPr>
        <p:spPr>
          <a:xfrm>
            <a:off x="6701582" y="2600325"/>
            <a:ext cx="4991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Universal Method Calls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01582" y="2867025"/>
            <a:ext cx="4981575" cy="39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Methods like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isBlocked()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and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getRole()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work regardless of whether it's a Customer, Scheduler, Administrator, or Manager object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19850" y="3448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6320" y="127992"/>
                </a:moveTo>
                <a:lnTo>
                  <a:pt x="86320" y="104180"/>
                </a:lnTo>
                <a:lnTo>
                  <a:pt x="62508" y="104180"/>
                </a:lnTo>
                <a:cubicBezTo>
                  <a:pt x="57559" y="104180"/>
                  <a:pt x="53578" y="100199"/>
                  <a:pt x="53578" y="95250"/>
                </a:cubicBezTo>
                <a:cubicBezTo>
                  <a:pt x="53578" y="90301"/>
                  <a:pt x="57559" y="86320"/>
                  <a:pt x="62508" y="86320"/>
                </a:cubicBezTo>
                <a:lnTo>
                  <a:pt x="86320" y="86320"/>
                </a:lnTo>
                <a:lnTo>
                  <a:pt x="86320" y="62508"/>
                </a:lnTo>
                <a:cubicBezTo>
                  <a:pt x="86320" y="57559"/>
                  <a:pt x="90301" y="53578"/>
                  <a:pt x="95250" y="53578"/>
                </a:cubicBezTo>
                <a:cubicBezTo>
                  <a:pt x="100199" y="53578"/>
                  <a:pt x="104180" y="57559"/>
                  <a:pt x="104180" y="62508"/>
                </a:cubicBezTo>
                <a:lnTo>
                  <a:pt x="104180" y="86320"/>
                </a:lnTo>
                <a:lnTo>
                  <a:pt x="127992" y="86320"/>
                </a:lnTo>
                <a:cubicBezTo>
                  <a:pt x="132941" y="86320"/>
                  <a:pt x="136922" y="90301"/>
                  <a:pt x="136922" y="95250"/>
                </a:cubicBezTo>
                <a:cubicBezTo>
                  <a:pt x="136922" y="100199"/>
                  <a:pt x="132941" y="104180"/>
                  <a:pt x="127992" y="104180"/>
                </a:cubicBezTo>
                <a:lnTo>
                  <a:pt x="104180" y="104180"/>
                </a:lnTo>
                <a:lnTo>
                  <a:pt x="104180" y="127992"/>
                </a:lnTo>
                <a:cubicBezTo>
                  <a:pt x="104180" y="132941"/>
                  <a:pt x="100199" y="136922"/>
                  <a:pt x="95250" y="136922"/>
                </a:cubicBezTo>
                <a:cubicBezTo>
                  <a:pt x="90301" y="136922"/>
                  <a:pt x="86320" y="132941"/>
                  <a:pt x="86320" y="127992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5" name="Text 43"/>
          <p:cNvSpPr/>
          <p:nvPr/>
        </p:nvSpPr>
        <p:spPr>
          <a:xfrm>
            <a:off x="6701433" y="3409950"/>
            <a:ext cx="4991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Easy Role Addition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01433" y="3676650"/>
            <a:ext cx="4981575" cy="581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If a new role is added, only need to extend with overridden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getDashboardTitle()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method and new case in switch statement; login logic remains untouched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43663" y="4414838"/>
            <a:ext cx="5172075" cy="619125"/>
          </a:xfrm>
          <a:custGeom>
            <a:avLst/>
            <a:gdLst/>
            <a:ahLst/>
            <a:cxnLst/>
            <a:rect l="l" t="t" r="r" b="b"/>
            <a:pathLst>
              <a:path w="5172075" h="619125">
                <a:moveTo>
                  <a:pt x="38101" y="0"/>
                </a:moveTo>
                <a:lnTo>
                  <a:pt x="5133974" y="0"/>
                </a:lnTo>
                <a:cubicBezTo>
                  <a:pt x="5155017" y="0"/>
                  <a:pt x="5172075" y="17058"/>
                  <a:pt x="5172075" y="38101"/>
                </a:cubicBezTo>
                <a:lnTo>
                  <a:pt x="5172075" y="581024"/>
                </a:lnTo>
                <a:cubicBezTo>
                  <a:pt x="5172075" y="602067"/>
                  <a:pt x="5155017" y="619125"/>
                  <a:pt x="5133974" y="619125"/>
                </a:cubicBezTo>
                <a:lnTo>
                  <a:pt x="38101" y="619125"/>
                </a:lnTo>
                <a:cubicBezTo>
                  <a:pt x="17058" y="619125"/>
                  <a:pt x="0" y="602067"/>
                  <a:pt x="0" y="581024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62725" y="4533900"/>
            <a:ext cx="50006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Runtime Polymorphism: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The actual object's method implementation is invoked based on the object's runtime type, not the reference type</a:t>
            </a:r>
            <a:endParaRPr lang="en-US" sz="1600" dirty="0"/>
          </a:p>
        </p:txBody>
      </p:sp>
      <p:sp>
        <p:nvSpPr>
          <p:cNvPr id="49" name="Shape 7"/>
          <p:cNvSpPr/>
          <p:nvPr/>
        </p:nvSpPr>
        <p:spPr>
          <a:xfrm flipH="1">
            <a:off x="386080" y="2414905"/>
            <a:ext cx="76200" cy="4283710"/>
          </a:xfrm>
          <a:custGeom>
            <a:avLst/>
            <a:gdLst/>
            <a:ahLst/>
            <a:cxnLst/>
            <a:rect l="l" t="t" r="r" b="b"/>
            <a:pathLst>
              <a:path w="38100" h="3429000">
                <a:moveTo>
                  <a:pt x="0" y="0"/>
                </a:moveTo>
                <a:lnTo>
                  <a:pt x="38100" y="0"/>
                </a:lnTo>
                <a:lnTo>
                  <a:pt x="381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0" name="Text 8"/>
          <p:cNvSpPr/>
          <p:nvPr/>
        </p:nvSpPr>
        <p:spPr>
          <a:xfrm>
            <a:off x="556895" y="2438083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Code Implementation</a:t>
            </a:r>
            <a:endParaRPr lang="en-US" sz="1600" dirty="0"/>
          </a:p>
        </p:txBody>
      </p:sp>
      <p:pic>
        <p:nvPicPr>
          <p:cNvPr id="51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10" y="2762250"/>
            <a:ext cx="5590540" cy="694690"/>
          </a:xfrm>
          <a:prstGeom prst="rect">
            <a:avLst/>
          </a:prstGeom>
        </p:spPr>
      </p:pic>
      <p:pic>
        <p:nvPicPr>
          <p:cNvPr id="5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" y="3593465"/>
            <a:ext cx="5576570" cy="675005"/>
          </a:xfrm>
          <a:prstGeom prst="rect">
            <a:avLst/>
          </a:prstGeom>
        </p:spPr>
      </p:pic>
      <p:pic>
        <p:nvPicPr>
          <p:cNvPr id="5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50" y="4382135"/>
            <a:ext cx="5574665" cy="682625"/>
          </a:xfrm>
          <a:prstGeom prst="rect">
            <a:avLst/>
          </a:prstGeom>
        </p:spPr>
      </p:pic>
      <p:pic>
        <p:nvPicPr>
          <p:cNvPr id="5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55" y="5154930"/>
            <a:ext cx="5506720" cy="672465"/>
          </a:xfrm>
          <a:prstGeom prst="rect">
            <a:avLst/>
          </a:prstGeom>
        </p:spPr>
      </p:pic>
      <p:pic>
        <p:nvPicPr>
          <p:cNvPr id="5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85" y="5894705"/>
            <a:ext cx="5466715" cy="7924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4.3 Polymorphism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Runtime Behavior and Method Overriding</a:t>
            </a:r>
            <a:endParaRPr lang="en-US" sz="1600" dirty="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9355" y="1104900"/>
            <a:ext cx="4799965" cy="55664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4.4 Abstraction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Hiding Implementation Details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81100"/>
            <a:ext cx="5581650" cy="1085850"/>
          </a:xfrm>
          <a:custGeom>
            <a:avLst/>
            <a:gdLst/>
            <a:ahLst/>
            <a:cxnLst/>
            <a:rect l="l" t="t" r="r" b="b"/>
            <a:pathLst>
              <a:path w="5581650" h="1085850">
                <a:moveTo>
                  <a:pt x="0" y="0"/>
                </a:moveTo>
                <a:lnTo>
                  <a:pt x="5581650" y="0"/>
                </a:lnTo>
                <a:lnTo>
                  <a:pt x="558165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400050" y="11811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571500" y="1333500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676400"/>
            <a:ext cx="5324475" cy="438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Abstraction hides implementation details and shows only the relevant exposed parts to the outside world, achieved through the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abstract User class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the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utility class FileManager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29350" y="1181100"/>
            <a:ext cx="5581650" cy="5295900"/>
          </a:xfrm>
          <a:custGeom>
            <a:avLst/>
            <a:gdLst/>
            <a:ahLst/>
            <a:cxnLst/>
            <a:rect l="l" t="t" r="r" b="b"/>
            <a:pathLst>
              <a:path w="5581650" h="5295900">
                <a:moveTo>
                  <a:pt x="0" y="0"/>
                </a:moveTo>
                <a:lnTo>
                  <a:pt x="5581650" y="0"/>
                </a:lnTo>
                <a:lnTo>
                  <a:pt x="5581650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0" name="Shape 18"/>
          <p:cNvSpPr/>
          <p:nvPr/>
        </p:nvSpPr>
        <p:spPr>
          <a:xfrm>
            <a:off x="6229350" y="1181100"/>
            <a:ext cx="38100" cy="5295900"/>
          </a:xfrm>
          <a:custGeom>
            <a:avLst/>
            <a:gdLst/>
            <a:ahLst/>
            <a:cxnLst/>
            <a:rect l="l" t="t" r="r" b="b"/>
            <a:pathLst>
              <a:path w="38100" h="5295900">
                <a:moveTo>
                  <a:pt x="0" y="0"/>
                </a:moveTo>
                <a:lnTo>
                  <a:pt x="38100" y="0"/>
                </a:lnTo>
                <a:lnTo>
                  <a:pt x="38100" y="5295900"/>
                </a:lnTo>
                <a:lnTo>
                  <a:pt x="0" y="5295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1" name="Text 19"/>
          <p:cNvSpPr/>
          <p:nvPr/>
        </p:nvSpPr>
        <p:spPr>
          <a:xfrm>
            <a:off x="6438900" y="1371600"/>
            <a:ext cx="527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Justification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43663" y="18288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32742" y="23812"/>
                </a:moveTo>
                <a:cubicBezTo>
                  <a:pt x="27794" y="23812"/>
                  <a:pt x="23812" y="27794"/>
                  <a:pt x="23812" y="32742"/>
                </a:cubicBezTo>
                <a:cubicBezTo>
                  <a:pt x="23812" y="37691"/>
                  <a:pt x="27794" y="41672"/>
                  <a:pt x="32742" y="41672"/>
                </a:cubicBezTo>
                <a:lnTo>
                  <a:pt x="50602" y="41672"/>
                </a:lnTo>
                <a:cubicBezTo>
                  <a:pt x="55550" y="41672"/>
                  <a:pt x="59531" y="37691"/>
                  <a:pt x="59531" y="32742"/>
                </a:cubicBezTo>
                <a:cubicBezTo>
                  <a:pt x="59531" y="27794"/>
                  <a:pt x="55550" y="23812"/>
                  <a:pt x="50602" y="23812"/>
                </a:cubicBezTo>
                <a:lnTo>
                  <a:pt x="32742" y="23812"/>
                </a:lnTo>
                <a:close/>
                <a:moveTo>
                  <a:pt x="32742" y="59531"/>
                </a:moveTo>
                <a:cubicBezTo>
                  <a:pt x="27794" y="59531"/>
                  <a:pt x="23812" y="63512"/>
                  <a:pt x="23812" y="68461"/>
                </a:cubicBezTo>
                <a:cubicBezTo>
                  <a:pt x="23812" y="73409"/>
                  <a:pt x="27794" y="77391"/>
                  <a:pt x="32742" y="77391"/>
                </a:cubicBezTo>
                <a:lnTo>
                  <a:pt x="50602" y="77391"/>
                </a:lnTo>
                <a:cubicBezTo>
                  <a:pt x="55550" y="77391"/>
                  <a:pt x="59531" y="73409"/>
                  <a:pt x="59531" y="68461"/>
                </a:cubicBezTo>
                <a:cubicBezTo>
                  <a:pt x="59531" y="63512"/>
                  <a:pt x="55550" y="59531"/>
                  <a:pt x="50602" y="59531"/>
                </a:cubicBezTo>
                <a:lnTo>
                  <a:pt x="32742" y="59531"/>
                </a:lnTo>
                <a:close/>
                <a:moveTo>
                  <a:pt x="58899" y="119063"/>
                </a:moveTo>
                <a:cubicBezTo>
                  <a:pt x="54694" y="119063"/>
                  <a:pt x="50750" y="120960"/>
                  <a:pt x="48146" y="124234"/>
                </a:cubicBezTo>
                <a:lnTo>
                  <a:pt x="25784" y="152177"/>
                </a:lnTo>
                <a:cubicBezTo>
                  <a:pt x="22696" y="156009"/>
                  <a:pt x="23329" y="161665"/>
                  <a:pt x="27161" y="164716"/>
                </a:cubicBezTo>
                <a:cubicBezTo>
                  <a:pt x="30993" y="167767"/>
                  <a:pt x="36649" y="167171"/>
                  <a:pt x="39700" y="163302"/>
                </a:cubicBezTo>
                <a:lnTo>
                  <a:pt x="57224" y="141424"/>
                </a:lnTo>
                <a:lnTo>
                  <a:pt x="62880" y="160288"/>
                </a:lnTo>
                <a:cubicBezTo>
                  <a:pt x="63996" y="164083"/>
                  <a:pt x="67494" y="166650"/>
                  <a:pt x="71438" y="166650"/>
                </a:cubicBezTo>
                <a:lnTo>
                  <a:pt x="110133" y="166650"/>
                </a:lnTo>
                <a:cubicBezTo>
                  <a:pt x="115081" y="166650"/>
                  <a:pt x="119063" y="162669"/>
                  <a:pt x="119063" y="157721"/>
                </a:cubicBezTo>
                <a:cubicBezTo>
                  <a:pt x="119063" y="152772"/>
                  <a:pt x="115081" y="148791"/>
                  <a:pt x="110133" y="148791"/>
                </a:cubicBezTo>
                <a:lnTo>
                  <a:pt x="78098" y="148791"/>
                </a:lnTo>
                <a:lnTo>
                  <a:pt x="72107" y="128848"/>
                </a:lnTo>
                <a:cubicBezTo>
                  <a:pt x="70358" y="123006"/>
                  <a:pt x="65001" y="119025"/>
                  <a:pt x="58899" y="11902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3" name="Text 21"/>
          <p:cNvSpPr/>
          <p:nvPr/>
        </p:nvSpPr>
        <p:spPr>
          <a:xfrm>
            <a:off x="6702177" y="1790700"/>
            <a:ext cx="4991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Contract Definition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02177" y="2057400"/>
            <a:ext cx="4981575" cy="39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Abstract User class defines the contract where each user type implements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getDashboardTitle()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while hiding internal field structure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29375" y="2638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6624" y="153479"/>
                </a:moveTo>
                <a:lnTo>
                  <a:pt x="37021" y="53876"/>
                </a:lnTo>
                <a:cubicBezTo>
                  <a:pt x="28687" y="65559"/>
                  <a:pt x="23812" y="79846"/>
                  <a:pt x="23812" y="95250"/>
                </a:cubicBezTo>
                <a:cubicBezTo>
                  <a:pt x="23812" y="134689"/>
                  <a:pt x="55811" y="166688"/>
                  <a:pt x="95250" y="166688"/>
                </a:cubicBezTo>
                <a:cubicBezTo>
                  <a:pt x="110691" y="166688"/>
                  <a:pt x="124978" y="161813"/>
                  <a:pt x="136624" y="153479"/>
                </a:cubicBezTo>
                <a:close/>
                <a:moveTo>
                  <a:pt x="153479" y="136624"/>
                </a:moveTo>
                <a:cubicBezTo>
                  <a:pt x="161813" y="124941"/>
                  <a:pt x="166688" y="110654"/>
                  <a:pt x="166688" y="95250"/>
                </a:cubicBezTo>
                <a:cubicBezTo>
                  <a:pt x="166688" y="55811"/>
                  <a:pt x="134689" y="23812"/>
                  <a:pt x="95250" y="23812"/>
                </a:cubicBezTo>
                <a:cubicBezTo>
                  <a:pt x="79809" y="23812"/>
                  <a:pt x="65522" y="28687"/>
                  <a:pt x="53876" y="37021"/>
                </a:cubicBezTo>
                <a:lnTo>
                  <a:pt x="153479" y="136624"/>
                </a:ln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6" name="Text 24"/>
          <p:cNvSpPr/>
          <p:nvPr/>
        </p:nvSpPr>
        <p:spPr>
          <a:xfrm>
            <a:off x="6727180" y="2600325"/>
            <a:ext cx="4972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Prevent Direct Instantiation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27180" y="2867025"/>
            <a:ext cx="4962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User cannot be directly instantiated, ensuring all user objects in the system are always concrete role-specific subclasses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50806" y="34385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9" name="Text 27"/>
          <p:cNvSpPr/>
          <p:nvPr/>
        </p:nvSpPr>
        <p:spPr>
          <a:xfrm>
            <a:off x="6741765" y="3400425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Layer Abstraction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41765" y="3667125"/>
            <a:ext cx="49434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FileManager class abstracts the entire data layer; GUI classes treat it as a common interface for file operations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9850" y="4238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2" name="Text 30"/>
          <p:cNvSpPr/>
          <p:nvPr/>
        </p:nvSpPr>
        <p:spPr>
          <a:xfrm>
            <a:off x="6701433" y="4200525"/>
            <a:ext cx="4991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Storage Independence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01433" y="4467225"/>
            <a:ext cx="4981575" cy="590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GUI classes call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FileManager.readUsers()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or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FileManager.writeBookings()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without worrying about file paths, CSV splitting, BufferedReader, or IOException handling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43663" y="5214938"/>
            <a:ext cx="5172075" cy="619125"/>
          </a:xfrm>
          <a:custGeom>
            <a:avLst/>
            <a:gdLst/>
            <a:ahLst/>
            <a:cxnLst/>
            <a:rect l="l" t="t" r="r" b="b"/>
            <a:pathLst>
              <a:path w="5172075" h="619125">
                <a:moveTo>
                  <a:pt x="38101" y="0"/>
                </a:moveTo>
                <a:lnTo>
                  <a:pt x="5133974" y="0"/>
                </a:lnTo>
                <a:cubicBezTo>
                  <a:pt x="5155017" y="0"/>
                  <a:pt x="5172075" y="17058"/>
                  <a:pt x="5172075" y="38101"/>
                </a:cubicBezTo>
                <a:lnTo>
                  <a:pt x="5172075" y="581024"/>
                </a:lnTo>
                <a:cubicBezTo>
                  <a:pt x="5172075" y="602067"/>
                  <a:pt x="5155017" y="619125"/>
                  <a:pt x="5133974" y="619125"/>
                </a:cubicBezTo>
                <a:lnTo>
                  <a:pt x="38101" y="619125"/>
                </a:lnTo>
                <a:cubicBezTo>
                  <a:pt x="17058" y="619125"/>
                  <a:pt x="0" y="602067"/>
                  <a:pt x="0" y="581024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2725" y="5334000"/>
            <a:ext cx="50006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Advantage: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If storage method changes from .txt files to database, only FileManager needs modification, not each GUI class</a:t>
            </a:r>
            <a:endParaRPr lang="en-US" sz="1600" dirty="0"/>
          </a:p>
        </p:txBody>
      </p:sp>
      <p:sp>
        <p:nvSpPr>
          <p:cNvPr id="49" name="Shape 7"/>
          <p:cNvSpPr/>
          <p:nvPr/>
        </p:nvSpPr>
        <p:spPr>
          <a:xfrm flipH="1">
            <a:off x="386080" y="2414905"/>
            <a:ext cx="116840" cy="2574290"/>
          </a:xfrm>
          <a:custGeom>
            <a:avLst/>
            <a:gdLst/>
            <a:ahLst/>
            <a:cxnLst/>
            <a:rect l="l" t="t" r="r" b="b"/>
            <a:pathLst>
              <a:path w="38100" h="3429000">
                <a:moveTo>
                  <a:pt x="0" y="0"/>
                </a:moveTo>
                <a:lnTo>
                  <a:pt x="38100" y="0"/>
                </a:lnTo>
                <a:lnTo>
                  <a:pt x="381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0" name="Text 8"/>
          <p:cNvSpPr/>
          <p:nvPr/>
        </p:nvSpPr>
        <p:spPr>
          <a:xfrm>
            <a:off x="556895" y="2438083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Code Implementation</a:t>
            </a:r>
            <a:endParaRPr lang="en-US" sz="1600" dirty="0"/>
          </a:p>
        </p:txBody>
      </p:sp>
      <p:pic>
        <p:nvPicPr>
          <p:cNvPr id="36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100" y="2827020"/>
            <a:ext cx="5151120" cy="2113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4.4 Abstraction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Hiding Implementation Details</a:t>
            </a:r>
            <a:endParaRPr lang="en-US" sz="1600" dirty="0"/>
          </a:p>
        </p:txBody>
      </p:sp>
      <p:pic>
        <p:nvPicPr>
          <p:cNvPr id="8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175" y="1104900"/>
            <a:ext cx="8771255" cy="54108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F9FAFB"/>
              </a:gs>
            </a:gsLst>
            <a:lin ang="2700000" scaled="1"/>
          </a:gradFill>
        </p:spPr>
      </p:sp>
      <p:pic>
        <p:nvPicPr>
          <p:cNvPr id="3" name="Image 0" descr="https://kimi-web-img.moonshot.cn/img/static.vecteezy.com/813704b718200660c7d209d9881f96246874aa77.jpg"/>
          <p:cNvPicPr>
            <a:picLocks noChangeAspect="1"/>
          </p:cNvPicPr>
          <p:nvPr/>
        </p:nvPicPr>
        <p:blipFill>
          <a:blip r:embed="rId1">
            <a:alphaModFix amt="10000"/>
          </a:blip>
          <a:srcRect t="5000" b="500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5" name="Text 2"/>
          <p:cNvSpPr/>
          <p:nvPr/>
        </p:nvSpPr>
        <p:spPr>
          <a:xfrm>
            <a:off x="381000" y="2057400"/>
            <a:ext cx="120396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8B0000">
                    <a:alpha val="2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429000"/>
            <a:ext cx="1171575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Additional Features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229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Text 5"/>
          <p:cNvSpPr/>
          <p:nvPr/>
        </p:nvSpPr>
        <p:spPr>
          <a:xfrm>
            <a:off x="381000" y="4495800"/>
            <a:ext cx="1154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Enhanced Functionality Beyond Requirements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5.1 Enhanced Functionality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Implemented Additional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600700" cy="1028700"/>
          </a:xfrm>
          <a:custGeom>
            <a:avLst/>
            <a:gdLst/>
            <a:ahLst/>
            <a:cxnLst/>
            <a:rect l="l" t="t" r="r" b="b"/>
            <a:pathLst>
              <a:path w="5600700" h="1028700">
                <a:moveTo>
                  <a:pt x="0" y="0"/>
                </a:moveTo>
                <a:lnTo>
                  <a:pt x="5600700" y="0"/>
                </a:lnTo>
                <a:lnTo>
                  <a:pt x="5600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Shape 4"/>
          <p:cNvSpPr/>
          <p:nvPr/>
        </p:nvSpPr>
        <p:spPr>
          <a:xfrm>
            <a:off x="595313" y="14573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790575" y="140970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Booking Report by Administrator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1752600"/>
            <a:ext cx="5343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Displays report of all booked events with confirmed/canceled counts and total revenue, providing management summary within application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2438400"/>
            <a:ext cx="5600700" cy="1038225"/>
          </a:xfrm>
          <a:custGeom>
            <a:avLst/>
            <a:gdLst/>
            <a:ahLst/>
            <a:cxnLst/>
            <a:rect l="l" t="t" r="r" b="b"/>
            <a:pathLst>
              <a:path w="5600700" h="1038225">
                <a:moveTo>
                  <a:pt x="0" y="0"/>
                </a:moveTo>
                <a:lnTo>
                  <a:pt x="5600700" y="0"/>
                </a:lnTo>
                <a:lnTo>
                  <a:pt x="5600700" y="1038225"/>
                </a:lnTo>
                <a:lnTo>
                  <a:pt x="0" y="10382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0" name="Shape 8"/>
          <p:cNvSpPr/>
          <p:nvPr/>
        </p:nvSpPr>
        <p:spPr>
          <a:xfrm>
            <a:off x="400050" y="2438400"/>
            <a:ext cx="38100" cy="1038225"/>
          </a:xfrm>
          <a:custGeom>
            <a:avLst/>
            <a:gdLst/>
            <a:ahLst/>
            <a:cxnLst/>
            <a:rect l="l" t="t" r="r" b="b"/>
            <a:pathLst>
              <a:path w="38100" h="1038225">
                <a:moveTo>
                  <a:pt x="0" y="0"/>
                </a:moveTo>
                <a:lnTo>
                  <a:pt x="38100" y="0"/>
                </a:lnTo>
                <a:lnTo>
                  <a:pt x="38100" y="1038225"/>
                </a:lnTo>
                <a:lnTo>
                  <a:pt x="0" y="10382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Shape 9"/>
          <p:cNvSpPr/>
          <p:nvPr/>
        </p:nvSpPr>
        <p:spPr>
          <a:xfrm>
            <a:off x="584597" y="26384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99521" y="171450"/>
                </a:lnTo>
                <a:cubicBezTo>
                  <a:pt x="87399" y="157185"/>
                  <a:pt x="80367" y="138801"/>
                  <a:pt x="80367" y="119345"/>
                </a:cubicBezTo>
                <a:lnTo>
                  <a:pt x="80367" y="108931"/>
                </a:lnTo>
                <a:cubicBezTo>
                  <a:pt x="80367" y="106487"/>
                  <a:pt x="80702" y="104076"/>
                  <a:pt x="81338" y="101798"/>
                </a:cubicBezTo>
                <a:lnTo>
                  <a:pt x="65064" y="101798"/>
                </a:lnTo>
                <a:close/>
                <a:moveTo>
                  <a:pt x="149115" y="163581"/>
                </a:moveTo>
                <a:lnTo>
                  <a:pt x="144661" y="165690"/>
                </a:lnTo>
                <a:lnTo>
                  <a:pt x="144661" y="102703"/>
                </a:lnTo>
                <a:lnTo>
                  <a:pt x="176808" y="113418"/>
                </a:lnTo>
                <a:lnTo>
                  <a:pt x="176808" y="119982"/>
                </a:lnTo>
                <a:cubicBezTo>
                  <a:pt x="176808" y="138667"/>
                  <a:pt x="166025" y="155644"/>
                  <a:pt x="149115" y="163614"/>
                </a:cubicBezTo>
                <a:close/>
                <a:moveTo>
                  <a:pt x="141279" y="86897"/>
                </a:moveTo>
                <a:lnTo>
                  <a:pt x="103774" y="99387"/>
                </a:lnTo>
                <a:cubicBezTo>
                  <a:pt x="99387" y="100861"/>
                  <a:pt x="96441" y="104946"/>
                  <a:pt x="96441" y="109567"/>
                </a:cubicBezTo>
                <a:lnTo>
                  <a:pt x="96441" y="119982"/>
                </a:lnTo>
                <a:cubicBezTo>
                  <a:pt x="96441" y="144895"/>
                  <a:pt x="110840" y="167566"/>
                  <a:pt x="133343" y="178147"/>
                </a:cubicBezTo>
                <a:lnTo>
                  <a:pt x="139538" y="181061"/>
                </a:lnTo>
                <a:cubicBezTo>
                  <a:pt x="141145" y="181797"/>
                  <a:pt x="142886" y="182199"/>
                  <a:pt x="144627" y="182199"/>
                </a:cubicBezTo>
                <a:cubicBezTo>
                  <a:pt x="146369" y="182199"/>
                  <a:pt x="148144" y="181797"/>
                  <a:pt x="149717" y="181061"/>
                </a:cubicBezTo>
                <a:lnTo>
                  <a:pt x="155912" y="178147"/>
                </a:lnTo>
                <a:cubicBezTo>
                  <a:pt x="178482" y="167532"/>
                  <a:pt x="192881" y="144862"/>
                  <a:pt x="192881" y="119948"/>
                </a:cubicBezTo>
                <a:lnTo>
                  <a:pt x="192881" y="109534"/>
                </a:lnTo>
                <a:cubicBezTo>
                  <a:pt x="192881" y="104913"/>
                  <a:pt x="189934" y="100827"/>
                  <a:pt x="185548" y="99354"/>
                </a:cubicBezTo>
                <a:lnTo>
                  <a:pt x="148043" y="86864"/>
                </a:lnTo>
                <a:cubicBezTo>
                  <a:pt x="145833" y="86127"/>
                  <a:pt x="143455" y="86127"/>
                  <a:pt x="141279" y="8686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Text 10"/>
          <p:cNvSpPr/>
          <p:nvPr/>
        </p:nvSpPr>
        <p:spPr>
          <a:xfrm>
            <a:off x="790575" y="259080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Auto-Seeded Default Accounts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933700"/>
            <a:ext cx="5343525" cy="39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initializeFiles()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method checks if users.txt is empty on first launch and auto-seeds default Administrator and Manager accounts for immediate system readiness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3629025"/>
            <a:ext cx="5600700" cy="1038225"/>
          </a:xfrm>
          <a:custGeom>
            <a:avLst/>
            <a:gdLst/>
            <a:ahLst/>
            <a:cxnLst/>
            <a:rect l="l" t="t" r="r" b="b"/>
            <a:pathLst>
              <a:path w="5600700" h="1038225">
                <a:moveTo>
                  <a:pt x="0" y="0"/>
                </a:moveTo>
                <a:lnTo>
                  <a:pt x="5600700" y="0"/>
                </a:lnTo>
                <a:lnTo>
                  <a:pt x="5600700" y="1038225"/>
                </a:lnTo>
                <a:lnTo>
                  <a:pt x="0" y="10382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5" name="Shape 13"/>
          <p:cNvSpPr/>
          <p:nvPr/>
        </p:nvSpPr>
        <p:spPr>
          <a:xfrm>
            <a:off x="400050" y="3629025"/>
            <a:ext cx="38100" cy="1038225"/>
          </a:xfrm>
          <a:custGeom>
            <a:avLst/>
            <a:gdLst/>
            <a:ahLst/>
            <a:cxnLst/>
            <a:rect l="l" t="t" r="r" b="b"/>
            <a:pathLst>
              <a:path w="38100" h="1038225">
                <a:moveTo>
                  <a:pt x="0" y="0"/>
                </a:moveTo>
                <a:lnTo>
                  <a:pt x="38100" y="0"/>
                </a:lnTo>
                <a:lnTo>
                  <a:pt x="38100" y="1038225"/>
                </a:lnTo>
                <a:lnTo>
                  <a:pt x="0" y="10382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Shape 14"/>
          <p:cNvSpPr/>
          <p:nvPr/>
        </p:nvSpPr>
        <p:spPr>
          <a:xfrm>
            <a:off x="595313" y="3829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42863"/>
                </a:moveTo>
                <a:lnTo>
                  <a:pt x="0" y="53578"/>
                </a:lnTo>
                <a:lnTo>
                  <a:pt x="171450" y="53578"/>
                </a:lnTo>
                <a:lnTo>
                  <a:pt x="171450" y="42863"/>
                </a:lnTo>
                <a:cubicBezTo>
                  <a:pt x="171450" y="31042"/>
                  <a:pt x="161839" y="21431"/>
                  <a:pt x="150019" y="21431"/>
                </a:cubicBezTo>
                <a:lnTo>
                  <a:pt x="21431" y="21431"/>
                </a:lnTo>
                <a:cubicBezTo>
                  <a:pt x="9611" y="21431"/>
                  <a:pt x="0" y="31042"/>
                  <a:pt x="0" y="42863"/>
                </a:cubicBezTo>
                <a:close/>
                <a:moveTo>
                  <a:pt x="0" y="69652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9652"/>
                </a:lnTo>
                <a:lnTo>
                  <a:pt x="0" y="69652"/>
                </a:lnTo>
                <a:close/>
                <a:moveTo>
                  <a:pt x="21431" y="120551"/>
                </a:moveTo>
                <a:cubicBezTo>
                  <a:pt x="21431" y="116097"/>
                  <a:pt x="25014" y="112514"/>
                  <a:pt x="29468" y="112514"/>
                </a:cubicBezTo>
                <a:lnTo>
                  <a:pt x="45541" y="112514"/>
                </a:lnTo>
                <a:cubicBezTo>
                  <a:pt x="49995" y="112514"/>
                  <a:pt x="53578" y="116097"/>
                  <a:pt x="53578" y="120551"/>
                </a:cubicBezTo>
                <a:cubicBezTo>
                  <a:pt x="53578" y="125004"/>
                  <a:pt x="49995" y="128588"/>
                  <a:pt x="45541" y="128588"/>
                </a:cubicBezTo>
                <a:lnTo>
                  <a:pt x="29468" y="128588"/>
                </a:lnTo>
                <a:cubicBezTo>
                  <a:pt x="25014" y="128588"/>
                  <a:pt x="21431" y="125004"/>
                  <a:pt x="21431" y="120551"/>
                </a:cubicBezTo>
                <a:close/>
                <a:moveTo>
                  <a:pt x="69652" y="120551"/>
                </a:moveTo>
                <a:cubicBezTo>
                  <a:pt x="69652" y="116097"/>
                  <a:pt x="73235" y="112514"/>
                  <a:pt x="77688" y="112514"/>
                </a:cubicBez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7688" y="128588"/>
                </a:lnTo>
                <a:cubicBezTo>
                  <a:pt x="73235" y="128588"/>
                  <a:pt x="69652" y="125004"/>
                  <a:pt x="69652" y="120551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7" name="Text 15"/>
          <p:cNvSpPr/>
          <p:nvPr/>
        </p:nvSpPr>
        <p:spPr>
          <a:xfrm>
            <a:off x="790575" y="3781425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Multiple Payment Methods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" y="4124325"/>
            <a:ext cx="5343525" cy="39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Payment class supports three payment modes: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Cash, Card, Online Transfer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defined as constants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METHOD_CASH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METHOD_CARD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METHOD_ONLINE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4819650"/>
            <a:ext cx="5600700" cy="1038225"/>
          </a:xfrm>
          <a:custGeom>
            <a:avLst/>
            <a:gdLst/>
            <a:ahLst/>
            <a:cxnLst/>
            <a:rect l="l" t="t" r="r" b="b"/>
            <a:pathLst>
              <a:path w="5600700" h="1038225">
                <a:moveTo>
                  <a:pt x="0" y="0"/>
                </a:moveTo>
                <a:lnTo>
                  <a:pt x="5600700" y="0"/>
                </a:lnTo>
                <a:lnTo>
                  <a:pt x="5600700" y="1038225"/>
                </a:lnTo>
                <a:lnTo>
                  <a:pt x="0" y="10382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0" name="Shape 18"/>
          <p:cNvSpPr/>
          <p:nvPr/>
        </p:nvSpPr>
        <p:spPr>
          <a:xfrm>
            <a:off x="400050" y="4819650"/>
            <a:ext cx="38100" cy="1038225"/>
          </a:xfrm>
          <a:custGeom>
            <a:avLst/>
            <a:gdLst/>
            <a:ahLst/>
            <a:cxnLst/>
            <a:rect l="l" t="t" r="r" b="b"/>
            <a:pathLst>
              <a:path w="38100" h="1038225">
                <a:moveTo>
                  <a:pt x="0" y="0"/>
                </a:moveTo>
                <a:lnTo>
                  <a:pt x="38100" y="0"/>
                </a:lnTo>
                <a:lnTo>
                  <a:pt x="38100" y="1038225"/>
                </a:lnTo>
                <a:lnTo>
                  <a:pt x="0" y="10382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1" name="Shape 19"/>
          <p:cNvSpPr/>
          <p:nvPr/>
        </p:nvSpPr>
        <p:spPr>
          <a:xfrm>
            <a:off x="595313" y="5019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60734"/>
                </a:moveTo>
                <a:cubicBezTo>
                  <a:pt x="133075" y="160734"/>
                  <a:pt x="171450" y="124737"/>
                  <a:pt x="171450" y="80367"/>
                </a:cubicBezTo>
                <a:cubicBezTo>
                  <a:pt x="171450" y="35998"/>
                  <a:pt x="133075" y="0"/>
                  <a:pt x="85725" y="0"/>
                </a:cubicBezTo>
                <a:cubicBezTo>
                  <a:pt x="38375" y="0"/>
                  <a:pt x="0" y="35998"/>
                  <a:pt x="0" y="80367"/>
                </a:cubicBezTo>
                <a:cubicBezTo>
                  <a:pt x="0" y="98550"/>
                  <a:pt x="6429" y="115293"/>
                  <a:pt x="17279" y="128755"/>
                </a:cubicBezTo>
                <a:lnTo>
                  <a:pt x="938" y="159663"/>
                </a:lnTo>
                <a:cubicBezTo>
                  <a:pt x="-670" y="162677"/>
                  <a:pt x="-167" y="166360"/>
                  <a:pt x="2143" y="168872"/>
                </a:cubicBezTo>
                <a:cubicBezTo>
                  <a:pt x="4454" y="171383"/>
                  <a:pt x="8104" y="172153"/>
                  <a:pt x="11218" y="170814"/>
                </a:cubicBezTo>
                <a:lnTo>
                  <a:pt x="50866" y="153836"/>
                </a:lnTo>
                <a:cubicBezTo>
                  <a:pt x="61514" y="158256"/>
                  <a:pt x="73302" y="160734"/>
                  <a:pt x="85725" y="160734"/>
                </a:cubicBezTo>
                <a:close/>
                <a:moveTo>
                  <a:pt x="42863" y="69652"/>
                </a:moveTo>
                <a:cubicBezTo>
                  <a:pt x="48777" y="69652"/>
                  <a:pt x="53578" y="74453"/>
                  <a:pt x="53578" y="80367"/>
                </a:cubicBezTo>
                <a:cubicBezTo>
                  <a:pt x="53578" y="86281"/>
                  <a:pt x="48777" y="91083"/>
                  <a:pt x="42863" y="91083"/>
                </a:cubicBezTo>
                <a:cubicBezTo>
                  <a:pt x="36948" y="91083"/>
                  <a:pt x="32147" y="86281"/>
                  <a:pt x="32147" y="80367"/>
                </a:cubicBezTo>
                <a:cubicBezTo>
                  <a:pt x="32147" y="74453"/>
                  <a:pt x="36948" y="69652"/>
                  <a:pt x="42863" y="69652"/>
                </a:cubicBezTo>
                <a:close/>
                <a:moveTo>
                  <a:pt x="85725" y="69652"/>
                </a:moveTo>
                <a:cubicBezTo>
                  <a:pt x="91639" y="69652"/>
                  <a:pt x="96441" y="74453"/>
                  <a:pt x="96441" y="80367"/>
                </a:cubicBezTo>
                <a:cubicBezTo>
                  <a:pt x="96441" y="86281"/>
                  <a:pt x="91639" y="91083"/>
                  <a:pt x="85725" y="91083"/>
                </a:cubicBezTo>
                <a:cubicBezTo>
                  <a:pt x="79811" y="91083"/>
                  <a:pt x="75009" y="86281"/>
                  <a:pt x="75009" y="80367"/>
                </a:cubicBezTo>
                <a:cubicBezTo>
                  <a:pt x="75009" y="74453"/>
                  <a:pt x="79811" y="69652"/>
                  <a:pt x="85725" y="69652"/>
                </a:cubicBezTo>
                <a:close/>
                <a:moveTo>
                  <a:pt x="117872" y="80367"/>
                </a:moveTo>
                <a:cubicBezTo>
                  <a:pt x="117872" y="74453"/>
                  <a:pt x="122673" y="69652"/>
                  <a:pt x="128588" y="69652"/>
                </a:cubicBezTo>
                <a:cubicBezTo>
                  <a:pt x="134502" y="69652"/>
                  <a:pt x="139303" y="74453"/>
                  <a:pt x="139303" y="80367"/>
                </a:cubicBezTo>
                <a:cubicBezTo>
                  <a:pt x="139303" y="86281"/>
                  <a:pt x="134502" y="91083"/>
                  <a:pt x="128588" y="91083"/>
                </a:cubicBezTo>
                <a:cubicBezTo>
                  <a:pt x="122673" y="91083"/>
                  <a:pt x="117872" y="86281"/>
                  <a:pt x="117872" y="80367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Text 20"/>
          <p:cNvSpPr/>
          <p:nvPr/>
        </p:nvSpPr>
        <p:spPr>
          <a:xfrm>
            <a:off x="790575" y="497205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Manager Response on Issues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5314950"/>
            <a:ext cx="5343525" cy="39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Issue class includes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managerResponse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field for direct Manager response to Customer issues beyond Scheduler assignment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300" y="1257300"/>
            <a:ext cx="5600700" cy="1028700"/>
          </a:xfrm>
          <a:custGeom>
            <a:avLst/>
            <a:gdLst/>
            <a:ahLst/>
            <a:cxnLst/>
            <a:rect l="l" t="t" r="r" b="b"/>
            <a:pathLst>
              <a:path w="5600700" h="1028700">
                <a:moveTo>
                  <a:pt x="0" y="0"/>
                </a:moveTo>
                <a:lnTo>
                  <a:pt x="5600700" y="0"/>
                </a:lnTo>
                <a:lnTo>
                  <a:pt x="5600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5" name="Shape 23"/>
          <p:cNvSpPr/>
          <p:nvPr/>
        </p:nvSpPr>
        <p:spPr>
          <a:xfrm>
            <a:off x="6210300" y="12573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6" name="Shape 24"/>
          <p:cNvSpPr/>
          <p:nvPr/>
        </p:nvSpPr>
        <p:spPr>
          <a:xfrm>
            <a:off x="6405563" y="14573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7" name="Text 25"/>
          <p:cNvSpPr/>
          <p:nvPr/>
        </p:nvSpPr>
        <p:spPr>
          <a:xfrm>
            <a:off x="6600825" y="140970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Extended Issue Status Tracking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81750" y="1752600"/>
            <a:ext cx="5343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Issues support five different statuses: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OPEN, ASSIGNED, IN_PROGRESS, DONE, CLOSED, CANCELLED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for detailed resolution tracking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0300" y="2438400"/>
            <a:ext cx="5600700" cy="1038225"/>
          </a:xfrm>
          <a:custGeom>
            <a:avLst/>
            <a:gdLst/>
            <a:ahLst/>
            <a:cxnLst/>
            <a:rect l="l" t="t" r="r" b="b"/>
            <a:pathLst>
              <a:path w="5600700" h="1038225">
                <a:moveTo>
                  <a:pt x="0" y="0"/>
                </a:moveTo>
                <a:lnTo>
                  <a:pt x="5600700" y="0"/>
                </a:lnTo>
                <a:lnTo>
                  <a:pt x="5600700" y="1038225"/>
                </a:lnTo>
                <a:lnTo>
                  <a:pt x="0" y="10382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30" name="Shape 28"/>
          <p:cNvSpPr/>
          <p:nvPr/>
        </p:nvSpPr>
        <p:spPr>
          <a:xfrm>
            <a:off x="6210300" y="2438400"/>
            <a:ext cx="38100" cy="1038225"/>
          </a:xfrm>
          <a:custGeom>
            <a:avLst/>
            <a:gdLst/>
            <a:ahLst/>
            <a:cxnLst/>
            <a:rect l="l" t="t" r="r" b="b"/>
            <a:pathLst>
              <a:path w="38100" h="1038225">
                <a:moveTo>
                  <a:pt x="0" y="0"/>
                </a:moveTo>
                <a:lnTo>
                  <a:pt x="38100" y="0"/>
                </a:lnTo>
                <a:lnTo>
                  <a:pt x="38100" y="1038225"/>
                </a:lnTo>
                <a:lnTo>
                  <a:pt x="0" y="10382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1" name="Shape 29"/>
          <p:cNvSpPr/>
          <p:nvPr/>
        </p:nvSpPr>
        <p:spPr>
          <a:xfrm>
            <a:off x="6405563" y="2638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3" y="85725"/>
                </a:moveTo>
                <a:cubicBezTo>
                  <a:pt x="16073" y="47249"/>
                  <a:pt x="47249" y="16073"/>
                  <a:pt x="85725" y="16073"/>
                </a:cubicBezTo>
                <a:cubicBezTo>
                  <a:pt x="106855" y="16073"/>
                  <a:pt x="125775" y="25483"/>
                  <a:pt x="138566" y="40351"/>
                </a:cubicBezTo>
                <a:cubicBezTo>
                  <a:pt x="141446" y="43733"/>
                  <a:pt x="146536" y="44101"/>
                  <a:pt x="149885" y="41222"/>
                </a:cubicBezTo>
                <a:cubicBezTo>
                  <a:pt x="153233" y="38342"/>
                  <a:pt x="153635" y="33252"/>
                  <a:pt x="150755" y="29903"/>
                </a:cubicBezTo>
                <a:cubicBezTo>
                  <a:pt x="135050" y="11586"/>
                  <a:pt x="111744" y="0"/>
                  <a:pt x="85725" y="0"/>
                </a:cubicBezTo>
                <a:cubicBezTo>
                  <a:pt x="38375" y="0"/>
                  <a:pt x="0" y="38375"/>
                  <a:pt x="0" y="85725"/>
                </a:cubicBezTo>
                <a:lnTo>
                  <a:pt x="0" y="99120"/>
                </a:lnTo>
                <a:cubicBezTo>
                  <a:pt x="0" y="103573"/>
                  <a:pt x="3583" y="107156"/>
                  <a:pt x="8037" y="107156"/>
                </a:cubicBezTo>
                <a:cubicBezTo>
                  <a:pt x="12490" y="107156"/>
                  <a:pt x="16073" y="103573"/>
                  <a:pt x="16073" y="99120"/>
                </a:cubicBezTo>
                <a:lnTo>
                  <a:pt x="16073" y="85725"/>
                </a:lnTo>
                <a:close/>
                <a:moveTo>
                  <a:pt x="169608" y="68011"/>
                </a:moveTo>
                <a:cubicBezTo>
                  <a:pt x="168704" y="63658"/>
                  <a:pt x="164418" y="60878"/>
                  <a:pt x="160098" y="61816"/>
                </a:cubicBezTo>
                <a:cubicBezTo>
                  <a:pt x="155778" y="62753"/>
                  <a:pt x="152966" y="67006"/>
                  <a:pt x="153903" y="71326"/>
                </a:cubicBezTo>
                <a:cubicBezTo>
                  <a:pt x="154874" y="75980"/>
                  <a:pt x="155410" y="80803"/>
                  <a:pt x="155410" y="85758"/>
                </a:cubicBezTo>
                <a:lnTo>
                  <a:pt x="155410" y="99153"/>
                </a:lnTo>
                <a:cubicBezTo>
                  <a:pt x="155410" y="103607"/>
                  <a:pt x="158993" y="107190"/>
                  <a:pt x="163447" y="107190"/>
                </a:cubicBezTo>
                <a:cubicBezTo>
                  <a:pt x="167900" y="107190"/>
                  <a:pt x="171483" y="103607"/>
                  <a:pt x="171483" y="99153"/>
                </a:cubicBezTo>
                <a:lnTo>
                  <a:pt x="171483" y="85758"/>
                </a:lnTo>
                <a:cubicBezTo>
                  <a:pt x="171483" y="79697"/>
                  <a:pt x="170847" y="73770"/>
                  <a:pt x="169642" y="68044"/>
                </a:cubicBezTo>
                <a:close/>
                <a:moveTo>
                  <a:pt x="85725" y="26789"/>
                </a:moveTo>
                <a:cubicBezTo>
                  <a:pt x="79363" y="26789"/>
                  <a:pt x="73201" y="27794"/>
                  <a:pt x="67475" y="29669"/>
                </a:cubicBezTo>
                <a:cubicBezTo>
                  <a:pt x="62385" y="31343"/>
                  <a:pt x="61213" y="37605"/>
                  <a:pt x="64696" y="41690"/>
                </a:cubicBezTo>
                <a:cubicBezTo>
                  <a:pt x="67073" y="44470"/>
                  <a:pt x="70991" y="45307"/>
                  <a:pt x="74541" y="44336"/>
                </a:cubicBezTo>
                <a:cubicBezTo>
                  <a:pt x="78090" y="43365"/>
                  <a:pt x="81841" y="42863"/>
                  <a:pt x="85725" y="42863"/>
                </a:cubicBezTo>
                <a:cubicBezTo>
                  <a:pt x="109400" y="42863"/>
                  <a:pt x="128588" y="62050"/>
                  <a:pt x="128588" y="85725"/>
                </a:cubicBezTo>
                <a:lnTo>
                  <a:pt x="128588" y="94063"/>
                </a:lnTo>
                <a:cubicBezTo>
                  <a:pt x="128588" y="102502"/>
                  <a:pt x="128085" y="110907"/>
                  <a:pt x="127114" y="119278"/>
                </a:cubicBezTo>
                <a:cubicBezTo>
                  <a:pt x="126545" y="124167"/>
                  <a:pt x="130262" y="128588"/>
                  <a:pt x="135218" y="128588"/>
                </a:cubicBezTo>
                <a:cubicBezTo>
                  <a:pt x="139169" y="128588"/>
                  <a:pt x="142551" y="125708"/>
                  <a:pt x="143020" y="121790"/>
                </a:cubicBezTo>
                <a:cubicBezTo>
                  <a:pt x="144125" y="112615"/>
                  <a:pt x="144694" y="103372"/>
                  <a:pt x="144694" y="94097"/>
                </a:cubicBezTo>
                <a:lnTo>
                  <a:pt x="144694" y="85758"/>
                </a:lnTo>
                <a:cubicBezTo>
                  <a:pt x="144694" y="53210"/>
                  <a:pt x="118307" y="26823"/>
                  <a:pt x="85758" y="26823"/>
                </a:cubicBezTo>
                <a:close/>
                <a:moveTo>
                  <a:pt x="50464" y="49794"/>
                </a:moveTo>
                <a:cubicBezTo>
                  <a:pt x="47417" y="46245"/>
                  <a:pt x="41992" y="45977"/>
                  <a:pt x="39112" y="49660"/>
                </a:cubicBezTo>
                <a:cubicBezTo>
                  <a:pt x="31377" y="59639"/>
                  <a:pt x="26789" y="72130"/>
                  <a:pt x="26789" y="85725"/>
                </a:cubicBezTo>
                <a:lnTo>
                  <a:pt x="26789" y="94063"/>
                </a:lnTo>
                <a:cubicBezTo>
                  <a:pt x="26789" y="102167"/>
                  <a:pt x="25918" y="110270"/>
                  <a:pt x="24177" y="118140"/>
                </a:cubicBezTo>
                <a:cubicBezTo>
                  <a:pt x="23039" y="123364"/>
                  <a:pt x="26823" y="128554"/>
                  <a:pt x="32180" y="128554"/>
                </a:cubicBezTo>
                <a:cubicBezTo>
                  <a:pt x="35696" y="128554"/>
                  <a:pt x="38844" y="126210"/>
                  <a:pt x="39614" y="122761"/>
                </a:cubicBezTo>
                <a:cubicBezTo>
                  <a:pt x="41757" y="113351"/>
                  <a:pt x="42863" y="103741"/>
                  <a:pt x="42863" y="94030"/>
                </a:cubicBezTo>
                <a:lnTo>
                  <a:pt x="42863" y="85692"/>
                </a:lnTo>
                <a:cubicBezTo>
                  <a:pt x="42863" y="76583"/>
                  <a:pt x="45709" y="68145"/>
                  <a:pt x="50531" y="61213"/>
                </a:cubicBezTo>
                <a:cubicBezTo>
                  <a:pt x="52942" y="57730"/>
                  <a:pt x="53210" y="52975"/>
                  <a:pt x="50464" y="49761"/>
                </a:cubicBezTo>
                <a:close/>
                <a:moveTo>
                  <a:pt x="85725" y="53578"/>
                </a:moveTo>
                <a:cubicBezTo>
                  <a:pt x="67977" y="53578"/>
                  <a:pt x="53578" y="67977"/>
                  <a:pt x="53578" y="85725"/>
                </a:cubicBezTo>
                <a:lnTo>
                  <a:pt x="53578" y="94063"/>
                </a:lnTo>
                <a:cubicBezTo>
                  <a:pt x="53578" y="106085"/>
                  <a:pt x="52038" y="118006"/>
                  <a:pt x="48957" y="129592"/>
                </a:cubicBezTo>
                <a:cubicBezTo>
                  <a:pt x="47685" y="134381"/>
                  <a:pt x="51201" y="139303"/>
                  <a:pt x="56157" y="139303"/>
                </a:cubicBezTo>
                <a:cubicBezTo>
                  <a:pt x="59338" y="139303"/>
                  <a:pt x="62151" y="137227"/>
                  <a:pt x="62988" y="134146"/>
                </a:cubicBezTo>
                <a:cubicBezTo>
                  <a:pt x="66504" y="121087"/>
                  <a:pt x="68312" y="107625"/>
                  <a:pt x="68312" y="94063"/>
                </a:cubicBezTo>
                <a:lnTo>
                  <a:pt x="68312" y="85725"/>
                </a:lnTo>
                <a:cubicBezTo>
                  <a:pt x="68312" y="76114"/>
                  <a:pt x="76114" y="68312"/>
                  <a:pt x="85725" y="68312"/>
                </a:cubicBezTo>
                <a:cubicBezTo>
                  <a:pt x="95336" y="68312"/>
                  <a:pt x="103138" y="76114"/>
                  <a:pt x="103138" y="85725"/>
                </a:cubicBezTo>
                <a:lnTo>
                  <a:pt x="103138" y="94063"/>
                </a:lnTo>
                <a:cubicBezTo>
                  <a:pt x="103138" y="106219"/>
                  <a:pt x="101966" y="118307"/>
                  <a:pt x="99655" y="130195"/>
                </a:cubicBezTo>
                <a:cubicBezTo>
                  <a:pt x="98751" y="134849"/>
                  <a:pt x="102234" y="139303"/>
                  <a:pt x="106955" y="139303"/>
                </a:cubicBezTo>
                <a:cubicBezTo>
                  <a:pt x="110371" y="139303"/>
                  <a:pt x="113318" y="136959"/>
                  <a:pt x="113987" y="133610"/>
                </a:cubicBezTo>
                <a:cubicBezTo>
                  <a:pt x="116566" y="120618"/>
                  <a:pt x="117872" y="107391"/>
                  <a:pt x="117872" y="94063"/>
                </a:cubicBezTo>
                <a:lnTo>
                  <a:pt x="117872" y="85725"/>
                </a:lnTo>
                <a:cubicBezTo>
                  <a:pt x="117872" y="67977"/>
                  <a:pt x="103473" y="53578"/>
                  <a:pt x="85725" y="53578"/>
                </a:cubicBezTo>
                <a:close/>
                <a:moveTo>
                  <a:pt x="93762" y="85725"/>
                </a:moveTo>
                <a:cubicBezTo>
                  <a:pt x="93762" y="81271"/>
                  <a:pt x="90179" y="77688"/>
                  <a:pt x="85725" y="77688"/>
                </a:cubicBezTo>
                <a:cubicBezTo>
                  <a:pt x="81271" y="77688"/>
                  <a:pt x="77688" y="81271"/>
                  <a:pt x="77688" y="85725"/>
                </a:cubicBezTo>
                <a:lnTo>
                  <a:pt x="77688" y="94063"/>
                </a:lnTo>
                <a:cubicBezTo>
                  <a:pt x="77688" y="114121"/>
                  <a:pt x="74005" y="134012"/>
                  <a:pt x="66805" y="152731"/>
                </a:cubicBezTo>
                <a:lnTo>
                  <a:pt x="64830" y="157855"/>
                </a:lnTo>
                <a:cubicBezTo>
                  <a:pt x="63222" y="162007"/>
                  <a:pt x="65298" y="166661"/>
                  <a:pt x="69451" y="168235"/>
                </a:cubicBezTo>
                <a:cubicBezTo>
                  <a:pt x="73603" y="169809"/>
                  <a:pt x="78258" y="167767"/>
                  <a:pt x="79831" y="163614"/>
                </a:cubicBezTo>
                <a:lnTo>
                  <a:pt x="81807" y="158491"/>
                </a:lnTo>
                <a:cubicBezTo>
                  <a:pt x="89710" y="137930"/>
                  <a:pt x="93762" y="116097"/>
                  <a:pt x="93762" y="94063"/>
                </a:cubicBezTo>
                <a:lnTo>
                  <a:pt x="93762" y="85725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2" name="Text 30"/>
          <p:cNvSpPr/>
          <p:nvPr/>
        </p:nvSpPr>
        <p:spPr>
          <a:xfrm>
            <a:off x="6600825" y="259080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Timestamp-Based ID Generation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81750" y="2933700"/>
            <a:ext cx="5343525" cy="39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FileManager.generateId()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uses </a:t>
            </a:r>
            <a:r>
              <a:rPr lang="en-US" sz="1050" dirty="0">
                <a:solidFill>
                  <a:srgbClr val="1F2937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System.currentTimeMillis() 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 generate unique IDs across all entities, avoiding collisions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0300" y="3629025"/>
            <a:ext cx="5600700" cy="1028700"/>
          </a:xfrm>
          <a:custGeom>
            <a:avLst/>
            <a:gdLst/>
            <a:ahLst/>
            <a:cxnLst/>
            <a:rect l="l" t="t" r="r" b="b"/>
            <a:pathLst>
              <a:path w="5600700" h="1028700">
                <a:moveTo>
                  <a:pt x="0" y="0"/>
                </a:moveTo>
                <a:lnTo>
                  <a:pt x="5600700" y="0"/>
                </a:lnTo>
                <a:lnTo>
                  <a:pt x="5600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35" name="Shape 33"/>
          <p:cNvSpPr/>
          <p:nvPr/>
        </p:nvSpPr>
        <p:spPr>
          <a:xfrm>
            <a:off x="6210300" y="3629025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6" name="Shape 34"/>
          <p:cNvSpPr/>
          <p:nvPr/>
        </p:nvSpPr>
        <p:spPr>
          <a:xfrm>
            <a:off x="6405563" y="3829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86026"/>
                  <a:pt x="171450" y="86328"/>
                  <a:pt x="171450" y="86629"/>
                </a:cubicBezTo>
                <a:cubicBezTo>
                  <a:pt x="171316" y="98852"/>
                  <a:pt x="160199" y="107156"/>
                  <a:pt x="147976" y="107156"/>
                </a:cubicBezTo>
                <a:lnTo>
                  <a:pt x="115193" y="107156"/>
                </a:lnTo>
                <a:cubicBezTo>
                  <a:pt x="106319" y="107156"/>
                  <a:pt x="99120" y="114356"/>
                  <a:pt x="99120" y="123230"/>
                </a:cubicBezTo>
                <a:cubicBezTo>
                  <a:pt x="99120" y="124368"/>
                  <a:pt x="99253" y="125473"/>
                  <a:pt x="99454" y="126545"/>
                </a:cubicBezTo>
                <a:cubicBezTo>
                  <a:pt x="100158" y="129960"/>
                  <a:pt x="101631" y="133242"/>
                  <a:pt x="103071" y="136557"/>
                </a:cubicBezTo>
                <a:cubicBezTo>
                  <a:pt x="105114" y="141178"/>
                  <a:pt x="107123" y="145766"/>
                  <a:pt x="107123" y="150622"/>
                </a:cubicBezTo>
                <a:cubicBezTo>
                  <a:pt x="107123" y="161270"/>
                  <a:pt x="99890" y="170948"/>
                  <a:pt x="89241" y="171383"/>
                </a:cubicBezTo>
                <a:cubicBezTo>
                  <a:pt x="88069" y="171417"/>
                  <a:pt x="86897" y="171450"/>
                  <a:pt x="85692" y="171450"/>
                </a:cubicBezTo>
                <a:cubicBezTo>
                  <a:pt x="38342" y="171450"/>
                  <a:pt x="-33" y="133075"/>
                  <a:pt x="-33" y="85725"/>
                </a:cubicBezTo>
                <a:cubicBezTo>
                  <a:pt x="-33" y="38375"/>
                  <a:pt x="38375" y="0"/>
                  <a:pt x="85725" y="0"/>
                </a:cubicBezTo>
                <a:cubicBezTo>
                  <a:pt x="133075" y="0"/>
                  <a:pt x="171450" y="38375"/>
                  <a:pt x="171450" y="85725"/>
                </a:cubicBezTo>
                <a:close/>
                <a:moveTo>
                  <a:pt x="42863" y="96441"/>
                </a:moveTo>
                <a:cubicBezTo>
                  <a:pt x="42863" y="90527"/>
                  <a:pt x="38061" y="85725"/>
                  <a:pt x="32147" y="85725"/>
                </a:cubicBezTo>
                <a:cubicBezTo>
                  <a:pt x="26233" y="85725"/>
                  <a:pt x="21431" y="90527"/>
                  <a:pt x="21431" y="96441"/>
                </a:cubicBezTo>
                <a:cubicBezTo>
                  <a:pt x="21431" y="102355"/>
                  <a:pt x="26233" y="107156"/>
                  <a:pt x="32147" y="107156"/>
                </a:cubicBezTo>
                <a:cubicBezTo>
                  <a:pt x="38061" y="107156"/>
                  <a:pt x="42863" y="102355"/>
                  <a:pt x="42863" y="96441"/>
                </a:cubicBezTo>
                <a:close/>
                <a:moveTo>
                  <a:pt x="42863" y="64294"/>
                </a:moveTo>
                <a:cubicBezTo>
                  <a:pt x="48777" y="64294"/>
                  <a:pt x="53578" y="59492"/>
                  <a:pt x="53578" y="53578"/>
                </a:cubicBezTo>
                <a:cubicBezTo>
                  <a:pt x="53578" y="47664"/>
                  <a:pt x="48777" y="42863"/>
                  <a:pt x="42863" y="42863"/>
                </a:cubicBezTo>
                <a:cubicBezTo>
                  <a:pt x="36948" y="42863"/>
                  <a:pt x="32147" y="47664"/>
                  <a:pt x="32147" y="53578"/>
                </a:cubicBezTo>
                <a:cubicBezTo>
                  <a:pt x="32147" y="59492"/>
                  <a:pt x="36948" y="64294"/>
                  <a:pt x="42863" y="64294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128588" y="64294"/>
                </a:moveTo>
                <a:cubicBezTo>
                  <a:pt x="134502" y="64294"/>
                  <a:pt x="139303" y="59492"/>
                  <a:pt x="139303" y="53578"/>
                </a:cubicBezTo>
                <a:cubicBezTo>
                  <a:pt x="139303" y="47664"/>
                  <a:pt x="134502" y="42863"/>
                  <a:pt x="128588" y="42863"/>
                </a:cubicBezTo>
                <a:cubicBezTo>
                  <a:pt x="122673" y="42863"/>
                  <a:pt x="117872" y="47664"/>
                  <a:pt x="117872" y="53578"/>
                </a:cubicBezTo>
                <a:cubicBezTo>
                  <a:pt x="117872" y="59492"/>
                  <a:pt x="122673" y="64294"/>
                  <a:pt x="128588" y="6429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7" name="Text 35"/>
          <p:cNvSpPr/>
          <p:nvPr/>
        </p:nvSpPr>
        <p:spPr>
          <a:xfrm>
            <a:off x="6600825" y="3781425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Color-Coded Dashboards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81750" y="4124325"/>
            <a:ext cx="5343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Each role has distinct colors: </a:t>
            </a:r>
            <a:r>
              <a:rPr lang="en-US" sz="1050" b="1" dirty="0">
                <a:solidFill>
                  <a:srgbClr val="155DF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blue (Customer)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</a:t>
            </a:r>
            <a:r>
              <a:rPr lang="en-US" sz="1050" b="1" dirty="0">
                <a:solidFill>
                  <a:srgbClr val="00A63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green (Scheduler)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</a:t>
            </a:r>
            <a:r>
              <a:rPr lang="en-US" sz="1050" b="1" dirty="0">
                <a:solidFill>
                  <a:srgbClr val="F549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orange (Administrator)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for immediate visual separation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0300" y="4810125"/>
            <a:ext cx="5600700" cy="1028700"/>
          </a:xfrm>
          <a:custGeom>
            <a:avLst/>
            <a:gdLst/>
            <a:ahLst/>
            <a:cxnLst/>
            <a:rect l="l" t="t" r="r" b="b"/>
            <a:pathLst>
              <a:path w="5600700" h="1028700">
                <a:moveTo>
                  <a:pt x="0" y="0"/>
                </a:moveTo>
                <a:lnTo>
                  <a:pt x="5600700" y="0"/>
                </a:lnTo>
                <a:lnTo>
                  <a:pt x="5600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40" name="Shape 38"/>
          <p:cNvSpPr/>
          <p:nvPr/>
        </p:nvSpPr>
        <p:spPr>
          <a:xfrm>
            <a:off x="6210300" y="4810125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1" name="Shape 39"/>
          <p:cNvSpPr/>
          <p:nvPr/>
        </p:nvSpPr>
        <p:spPr>
          <a:xfrm>
            <a:off x="6426994" y="50101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83682" y="22369"/>
                </a:moveTo>
                <a:cubicBezTo>
                  <a:pt x="87165" y="17580"/>
                  <a:pt x="86093" y="10883"/>
                  <a:pt x="81305" y="7400"/>
                </a:cubicBezTo>
                <a:cubicBezTo>
                  <a:pt x="76516" y="3918"/>
                  <a:pt x="69819" y="4989"/>
                  <a:pt x="66336" y="9778"/>
                </a:cubicBezTo>
                <a:lnTo>
                  <a:pt x="30841" y="58568"/>
                </a:lnTo>
                <a:lnTo>
                  <a:pt x="18284" y="46010"/>
                </a:lnTo>
                <a:cubicBezTo>
                  <a:pt x="14098" y="41824"/>
                  <a:pt x="7300" y="41824"/>
                  <a:pt x="3114" y="46010"/>
                </a:cubicBezTo>
                <a:cubicBezTo>
                  <a:pt x="-1072" y="50196"/>
                  <a:pt x="-1072" y="56994"/>
                  <a:pt x="3114" y="61180"/>
                </a:cubicBezTo>
                <a:lnTo>
                  <a:pt x="24545" y="82611"/>
                </a:lnTo>
                <a:cubicBezTo>
                  <a:pt x="26756" y="84821"/>
                  <a:pt x="29836" y="85959"/>
                  <a:pt x="32951" y="85725"/>
                </a:cubicBezTo>
                <a:cubicBezTo>
                  <a:pt x="36065" y="85491"/>
                  <a:pt x="38945" y="83883"/>
                  <a:pt x="40786" y="81338"/>
                </a:cubicBezTo>
                <a:lnTo>
                  <a:pt x="83649" y="22402"/>
                </a:lnTo>
                <a:close/>
                <a:moveTo>
                  <a:pt x="126545" y="67910"/>
                </a:moveTo>
                <a:cubicBezTo>
                  <a:pt x="130027" y="63122"/>
                  <a:pt x="128956" y="56424"/>
                  <a:pt x="124167" y="52942"/>
                </a:cubicBezTo>
                <a:cubicBezTo>
                  <a:pt x="119379" y="49459"/>
                  <a:pt x="112681" y="50531"/>
                  <a:pt x="109199" y="55319"/>
                </a:cubicBezTo>
                <a:lnTo>
                  <a:pt x="52272" y="133577"/>
                </a:lnTo>
                <a:lnTo>
                  <a:pt x="28999" y="110304"/>
                </a:lnTo>
                <a:cubicBezTo>
                  <a:pt x="24813" y="106118"/>
                  <a:pt x="18016" y="106118"/>
                  <a:pt x="13830" y="110304"/>
                </a:cubicBezTo>
                <a:cubicBezTo>
                  <a:pt x="9644" y="114490"/>
                  <a:pt x="9644" y="121287"/>
                  <a:pt x="13830" y="125473"/>
                </a:cubicBezTo>
                <a:lnTo>
                  <a:pt x="45977" y="157620"/>
                </a:lnTo>
                <a:cubicBezTo>
                  <a:pt x="48187" y="159830"/>
                  <a:pt x="51268" y="160969"/>
                  <a:pt x="54382" y="160734"/>
                </a:cubicBezTo>
                <a:cubicBezTo>
                  <a:pt x="57496" y="160500"/>
                  <a:pt x="60376" y="158893"/>
                  <a:pt x="62218" y="156348"/>
                </a:cubicBezTo>
                <a:lnTo>
                  <a:pt x="126511" y="67944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2" name="Text 40"/>
          <p:cNvSpPr/>
          <p:nvPr/>
        </p:nvSpPr>
        <p:spPr>
          <a:xfrm>
            <a:off x="6600825" y="4962525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Input Validation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81750" y="5305425"/>
            <a:ext cx="5343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All forms validate empty fields, duplicate usernames, and invalid formats. System includes JOptionPane error dialogs to guide users when validation fails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F9FAFB"/>
              </a:gs>
            </a:gsLst>
            <a:lin ang="2700000" scaled="1"/>
          </a:gradFill>
        </p:spPr>
      </p:sp>
      <p:pic>
        <p:nvPicPr>
          <p:cNvPr id="3" name="Image 0" descr="https://kimi-web-img.moonshot.cn/img/bairesdev.mo.cloudinary.net/d3e0a8ac3132a9093f83397b308f74562e625d4b.jpg"/>
          <p:cNvPicPr>
            <a:picLocks noChangeAspect="1"/>
          </p:cNvPicPr>
          <p:nvPr/>
        </p:nvPicPr>
        <p:blipFill>
          <a:blip r:embed="rId1">
            <a:alphaModFix amt="10000"/>
          </a:blip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5" name="Text 2"/>
          <p:cNvSpPr/>
          <p:nvPr/>
        </p:nvSpPr>
        <p:spPr>
          <a:xfrm>
            <a:off x="381000" y="1771650"/>
            <a:ext cx="120396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8B0000">
                    <a:alpha val="2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143250"/>
            <a:ext cx="1171575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Limitations and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5148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Text 5"/>
          <p:cNvSpPr/>
          <p:nvPr/>
        </p:nvSpPr>
        <p:spPr>
          <a:xfrm>
            <a:off x="381000" y="4781550"/>
            <a:ext cx="1154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Constraints and Final Assessment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6.1 System Limitations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Identified Constraints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600700" cy="1066800"/>
          </a:xfrm>
          <a:custGeom>
            <a:avLst/>
            <a:gdLst/>
            <a:ahLst/>
            <a:cxnLst/>
            <a:rect l="l" t="t" r="r" b="b"/>
            <a:pathLst>
              <a:path w="5600700" h="1066800">
                <a:moveTo>
                  <a:pt x="0" y="0"/>
                </a:moveTo>
                <a:lnTo>
                  <a:pt x="5600700" y="0"/>
                </a:lnTo>
                <a:lnTo>
                  <a:pt x="56007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Shape 4"/>
          <p:cNvSpPr/>
          <p:nvPr/>
        </p:nvSpPr>
        <p:spPr>
          <a:xfrm>
            <a:off x="616744" y="14573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40184" y="85725"/>
                </a:moveTo>
                <a:cubicBezTo>
                  <a:pt x="35730" y="85725"/>
                  <a:pt x="32147" y="89308"/>
                  <a:pt x="32147" y="93762"/>
                </a:cubicBezTo>
                <a:cubicBezTo>
                  <a:pt x="32147" y="98215"/>
                  <a:pt x="35730" y="101798"/>
                  <a:pt x="40184" y="101798"/>
                </a:cubicBezTo>
                <a:lnTo>
                  <a:pt x="88404" y="101798"/>
                </a:lnTo>
                <a:cubicBezTo>
                  <a:pt x="92858" y="101798"/>
                  <a:pt x="96441" y="98215"/>
                  <a:pt x="96441" y="93762"/>
                </a:cubicBezTo>
                <a:cubicBezTo>
                  <a:pt x="96441" y="89308"/>
                  <a:pt x="92858" y="85725"/>
                  <a:pt x="88404" y="85725"/>
                </a:cubicBezTo>
                <a:lnTo>
                  <a:pt x="40184" y="85725"/>
                </a:lnTo>
                <a:close/>
                <a:moveTo>
                  <a:pt x="40184" y="117872"/>
                </a:moveTo>
                <a:cubicBezTo>
                  <a:pt x="35730" y="117872"/>
                  <a:pt x="32147" y="121455"/>
                  <a:pt x="32147" y="125909"/>
                </a:cubicBezTo>
                <a:cubicBezTo>
                  <a:pt x="32147" y="130362"/>
                  <a:pt x="35730" y="133945"/>
                  <a:pt x="40184" y="133945"/>
                </a:cubicBezTo>
                <a:lnTo>
                  <a:pt x="88404" y="133945"/>
                </a:lnTo>
                <a:cubicBezTo>
                  <a:pt x="92858" y="133945"/>
                  <a:pt x="96441" y="130362"/>
                  <a:pt x="96441" y="125909"/>
                </a:cubicBezTo>
                <a:cubicBezTo>
                  <a:pt x="96441" y="121455"/>
                  <a:pt x="92858" y="117872"/>
                  <a:pt x="88404" y="117872"/>
                </a:cubicBezTo>
                <a:lnTo>
                  <a:pt x="40184" y="11787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790575" y="140970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Plain Text Storage Risks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1752600"/>
            <a:ext cx="534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.txt files lack transactional safety; crashes during writes can corrupt data files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019300"/>
            <a:ext cx="53340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Solution:</a:t>
            </a: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Database management system with atomic transactions and rollback protection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476500"/>
            <a:ext cx="5600700" cy="1066800"/>
          </a:xfrm>
          <a:custGeom>
            <a:avLst/>
            <a:gdLst/>
            <a:ahLst/>
            <a:cxnLst/>
            <a:rect l="l" t="t" r="r" b="b"/>
            <a:pathLst>
              <a:path w="5600700" h="1066800">
                <a:moveTo>
                  <a:pt x="0" y="0"/>
                </a:moveTo>
                <a:lnTo>
                  <a:pt x="5600700" y="0"/>
                </a:lnTo>
                <a:lnTo>
                  <a:pt x="56007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1" name="Shape 9"/>
          <p:cNvSpPr/>
          <p:nvPr/>
        </p:nvSpPr>
        <p:spPr>
          <a:xfrm>
            <a:off x="400050" y="24765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Shape 10"/>
          <p:cNvSpPr/>
          <p:nvPr/>
        </p:nvSpPr>
        <p:spPr>
          <a:xfrm>
            <a:off x="595313" y="2676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2514" y="117872"/>
                </a:moveTo>
                <a:cubicBezTo>
                  <a:pt x="145063" y="117872"/>
                  <a:pt x="171450" y="91485"/>
                  <a:pt x="171450" y="58936"/>
                </a:cubicBezTo>
                <a:cubicBezTo>
                  <a:pt x="171450" y="26387"/>
                  <a:pt x="145063" y="0"/>
                  <a:pt x="112514" y="0"/>
                </a:cubicBezTo>
                <a:cubicBezTo>
                  <a:pt x="79965" y="0"/>
                  <a:pt x="53578" y="26387"/>
                  <a:pt x="53578" y="58936"/>
                </a:cubicBezTo>
                <a:cubicBezTo>
                  <a:pt x="53578" y="65198"/>
                  <a:pt x="54549" y="71259"/>
                  <a:pt x="56357" y="76918"/>
                </a:cubicBezTo>
                <a:lnTo>
                  <a:pt x="2344" y="130932"/>
                </a:lnTo>
                <a:cubicBezTo>
                  <a:pt x="837" y="132438"/>
                  <a:pt x="0" y="134481"/>
                  <a:pt x="0" y="136624"/>
                </a:cubicBezTo>
                <a:lnTo>
                  <a:pt x="0" y="163413"/>
                </a:lnTo>
                <a:cubicBezTo>
                  <a:pt x="0" y="167867"/>
                  <a:pt x="3583" y="171450"/>
                  <a:pt x="8037" y="171450"/>
                </a:cubicBezTo>
                <a:lnTo>
                  <a:pt x="34826" y="171450"/>
                </a:lnTo>
                <a:cubicBezTo>
                  <a:pt x="39279" y="171450"/>
                  <a:pt x="42863" y="167867"/>
                  <a:pt x="42863" y="163413"/>
                </a:cubicBezTo>
                <a:lnTo>
                  <a:pt x="42863" y="150019"/>
                </a:lnTo>
                <a:lnTo>
                  <a:pt x="56257" y="150019"/>
                </a:lnTo>
                <a:cubicBezTo>
                  <a:pt x="60711" y="150019"/>
                  <a:pt x="64294" y="146436"/>
                  <a:pt x="64294" y="141982"/>
                </a:cubicBezTo>
                <a:lnTo>
                  <a:pt x="64294" y="128588"/>
                </a:lnTo>
                <a:lnTo>
                  <a:pt x="77688" y="128588"/>
                </a:lnTo>
                <a:cubicBezTo>
                  <a:pt x="79831" y="128588"/>
                  <a:pt x="81874" y="127750"/>
                  <a:pt x="83381" y="126243"/>
                </a:cubicBezTo>
                <a:lnTo>
                  <a:pt x="94532" y="115093"/>
                </a:lnTo>
                <a:cubicBezTo>
                  <a:pt x="100191" y="116901"/>
                  <a:pt x="106252" y="117872"/>
                  <a:pt x="112514" y="117872"/>
                </a:cubicBezTo>
                <a:close/>
                <a:moveTo>
                  <a:pt x="125909" y="32147"/>
                </a:moveTo>
                <a:cubicBezTo>
                  <a:pt x="133301" y="32147"/>
                  <a:pt x="139303" y="38149"/>
                  <a:pt x="139303" y="45541"/>
                </a:cubicBezTo>
                <a:cubicBezTo>
                  <a:pt x="139303" y="52934"/>
                  <a:pt x="133301" y="58936"/>
                  <a:pt x="125909" y="58936"/>
                </a:cubicBezTo>
                <a:cubicBezTo>
                  <a:pt x="118516" y="58936"/>
                  <a:pt x="112514" y="52934"/>
                  <a:pt x="112514" y="45541"/>
                </a:cubicBezTo>
                <a:cubicBezTo>
                  <a:pt x="112514" y="38149"/>
                  <a:pt x="118516" y="32147"/>
                  <a:pt x="125909" y="32147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Text 11"/>
          <p:cNvSpPr/>
          <p:nvPr/>
        </p:nvSpPr>
        <p:spPr>
          <a:xfrm>
            <a:off x="790575" y="262890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Password Encryption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2971800"/>
            <a:ext cx="534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Passwords stored plainly in users.txt file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238500"/>
            <a:ext cx="53340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Solution:</a:t>
            </a: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BCrypt or strong hashing algorithms for production systems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695700"/>
            <a:ext cx="5600700" cy="1066800"/>
          </a:xfrm>
          <a:custGeom>
            <a:avLst/>
            <a:gdLst/>
            <a:ahLst/>
            <a:cxnLst/>
            <a:rect l="l" t="t" r="r" b="b"/>
            <a:pathLst>
              <a:path w="5600700" h="1066800">
                <a:moveTo>
                  <a:pt x="0" y="0"/>
                </a:moveTo>
                <a:lnTo>
                  <a:pt x="5600700" y="0"/>
                </a:lnTo>
                <a:lnTo>
                  <a:pt x="56007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7" name="Shape 15"/>
          <p:cNvSpPr/>
          <p:nvPr/>
        </p:nvSpPr>
        <p:spPr>
          <a:xfrm>
            <a:off x="400050" y="36957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8" name="Shape 16"/>
          <p:cNvSpPr/>
          <p:nvPr/>
        </p:nvSpPr>
        <p:spPr>
          <a:xfrm>
            <a:off x="606028" y="38957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97747" y="73703"/>
                </a:moveTo>
                <a:cubicBezTo>
                  <a:pt x="94599" y="70556"/>
                  <a:pt x="89509" y="70556"/>
                  <a:pt x="86395" y="73703"/>
                </a:cubicBezTo>
                <a:lnTo>
                  <a:pt x="75043" y="85055"/>
                </a:lnTo>
                <a:lnTo>
                  <a:pt x="63691" y="73703"/>
                </a:lnTo>
                <a:cubicBezTo>
                  <a:pt x="60543" y="70556"/>
                  <a:pt x="55453" y="70556"/>
                  <a:pt x="52339" y="73703"/>
                </a:cubicBezTo>
                <a:cubicBezTo>
                  <a:pt x="49225" y="76851"/>
                  <a:pt x="49191" y="81941"/>
                  <a:pt x="52339" y="85055"/>
                </a:cubicBezTo>
                <a:lnTo>
                  <a:pt x="63691" y="96407"/>
                </a:lnTo>
                <a:lnTo>
                  <a:pt x="52339" y="107759"/>
                </a:lnTo>
                <a:cubicBezTo>
                  <a:pt x="49191" y="110907"/>
                  <a:pt x="49191" y="115997"/>
                  <a:pt x="52339" y="119111"/>
                </a:cubicBezTo>
                <a:cubicBezTo>
                  <a:pt x="55487" y="122225"/>
                  <a:pt x="60577" y="122259"/>
                  <a:pt x="63691" y="119111"/>
                </a:cubicBezTo>
                <a:lnTo>
                  <a:pt x="75043" y="107759"/>
                </a:lnTo>
                <a:lnTo>
                  <a:pt x="86395" y="119111"/>
                </a:lnTo>
                <a:cubicBezTo>
                  <a:pt x="89542" y="122259"/>
                  <a:pt x="94632" y="122259"/>
                  <a:pt x="97747" y="119111"/>
                </a:cubicBezTo>
                <a:cubicBezTo>
                  <a:pt x="100861" y="115963"/>
                  <a:pt x="100894" y="110873"/>
                  <a:pt x="97747" y="107759"/>
                </a:cubicBezTo>
                <a:lnTo>
                  <a:pt x="86395" y="96407"/>
                </a:lnTo>
                <a:lnTo>
                  <a:pt x="97747" y="85055"/>
                </a:lnTo>
                <a:cubicBezTo>
                  <a:pt x="100894" y="81908"/>
                  <a:pt x="100894" y="76818"/>
                  <a:pt x="97747" y="73703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Text 17"/>
          <p:cNvSpPr/>
          <p:nvPr/>
        </p:nvSpPr>
        <p:spPr>
          <a:xfrm>
            <a:off x="790575" y="384810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Booking Conflict Detection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" y="4191000"/>
            <a:ext cx="534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allows simultaneous bookings for same hall at same time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4457700"/>
            <a:ext cx="53340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Solution:</a:t>
            </a: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Logic to check slot availability at time of booking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257300"/>
            <a:ext cx="5600700" cy="1257300"/>
          </a:xfrm>
          <a:custGeom>
            <a:avLst/>
            <a:gdLst/>
            <a:ahLst/>
            <a:cxnLst/>
            <a:rect l="l" t="t" r="r" b="b"/>
            <a:pathLst>
              <a:path w="5600700" h="1257300">
                <a:moveTo>
                  <a:pt x="0" y="0"/>
                </a:moveTo>
                <a:lnTo>
                  <a:pt x="5600700" y="0"/>
                </a:lnTo>
                <a:lnTo>
                  <a:pt x="560070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3" name="Shape 21"/>
          <p:cNvSpPr/>
          <p:nvPr/>
        </p:nvSpPr>
        <p:spPr>
          <a:xfrm>
            <a:off x="6210300" y="12573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4" name="Shape 22"/>
          <p:cNvSpPr/>
          <p:nvPr/>
        </p:nvSpPr>
        <p:spPr>
          <a:xfrm>
            <a:off x="6384131" y="14573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24445" y="-8338"/>
                </a:moveTo>
                <a:cubicBezTo>
                  <a:pt x="21297" y="-11486"/>
                  <a:pt x="16207" y="-11486"/>
                  <a:pt x="13093" y="-8338"/>
                </a:cubicBezTo>
                <a:cubicBezTo>
                  <a:pt x="9979" y="-5190"/>
                  <a:pt x="9945" y="-100"/>
                  <a:pt x="13060" y="3047"/>
                </a:cubicBezTo>
                <a:lnTo>
                  <a:pt x="189867" y="179855"/>
                </a:lnTo>
                <a:cubicBezTo>
                  <a:pt x="193015" y="183003"/>
                  <a:pt x="198105" y="183003"/>
                  <a:pt x="201219" y="179855"/>
                </a:cubicBezTo>
                <a:cubicBezTo>
                  <a:pt x="204334" y="176707"/>
                  <a:pt x="204367" y="171617"/>
                  <a:pt x="201219" y="168503"/>
                </a:cubicBezTo>
                <a:lnTo>
                  <a:pt x="107759" y="75009"/>
                </a:lnTo>
                <a:cubicBezTo>
                  <a:pt x="126712" y="74675"/>
                  <a:pt x="141982" y="59204"/>
                  <a:pt x="141982" y="40184"/>
                </a:cubicBezTo>
                <a:cubicBezTo>
                  <a:pt x="141982" y="20962"/>
                  <a:pt x="126377" y="5358"/>
                  <a:pt x="107156" y="5358"/>
                </a:cubicBezTo>
                <a:cubicBezTo>
                  <a:pt x="88136" y="5358"/>
                  <a:pt x="72665" y="20628"/>
                  <a:pt x="72330" y="39581"/>
                </a:cubicBezTo>
                <a:lnTo>
                  <a:pt x="24445" y="-8338"/>
                </a:lnTo>
                <a:close/>
                <a:moveTo>
                  <a:pt x="171450" y="96441"/>
                </a:moveTo>
                <a:cubicBezTo>
                  <a:pt x="165690" y="96441"/>
                  <a:pt x="160165" y="97579"/>
                  <a:pt x="155142" y="99655"/>
                </a:cubicBezTo>
                <a:lnTo>
                  <a:pt x="212069" y="156582"/>
                </a:lnTo>
                <a:cubicBezTo>
                  <a:pt x="213475" y="154774"/>
                  <a:pt x="214313" y="152497"/>
                  <a:pt x="214313" y="150019"/>
                </a:cubicBezTo>
                <a:lnTo>
                  <a:pt x="214313" y="139303"/>
                </a:lnTo>
                <a:cubicBezTo>
                  <a:pt x="214313" y="115628"/>
                  <a:pt x="195125" y="96441"/>
                  <a:pt x="171450" y="96441"/>
                </a:cubicBezTo>
                <a:close/>
                <a:moveTo>
                  <a:pt x="20058" y="32716"/>
                </a:moveTo>
                <a:cubicBezTo>
                  <a:pt x="12859" y="36902"/>
                  <a:pt x="8037" y="44671"/>
                  <a:pt x="8037" y="53578"/>
                </a:cubicBezTo>
                <a:cubicBezTo>
                  <a:pt x="8037" y="66906"/>
                  <a:pt x="18819" y="77688"/>
                  <a:pt x="32147" y="77688"/>
                </a:cubicBezTo>
                <a:cubicBezTo>
                  <a:pt x="41054" y="77688"/>
                  <a:pt x="48823" y="72866"/>
                  <a:pt x="53009" y="65667"/>
                </a:cubicBezTo>
                <a:lnTo>
                  <a:pt x="20058" y="32716"/>
                </a:lnTo>
                <a:close/>
                <a:moveTo>
                  <a:pt x="83783" y="96441"/>
                </a:moveTo>
                <a:cubicBezTo>
                  <a:pt x="65901" y="105114"/>
                  <a:pt x="53578" y="123464"/>
                  <a:pt x="53578" y="144661"/>
                </a:cubicBezTo>
                <a:lnTo>
                  <a:pt x="53578" y="150019"/>
                </a:lnTo>
                <a:cubicBezTo>
                  <a:pt x="53578" y="155946"/>
                  <a:pt x="58367" y="160734"/>
                  <a:pt x="64294" y="160734"/>
                </a:cubicBezTo>
                <a:lnTo>
                  <a:pt x="148077" y="160734"/>
                </a:lnTo>
                <a:lnTo>
                  <a:pt x="83783" y="96441"/>
                </a:lnTo>
                <a:close/>
                <a:moveTo>
                  <a:pt x="42863" y="96441"/>
                </a:moveTo>
                <a:cubicBezTo>
                  <a:pt x="19188" y="96441"/>
                  <a:pt x="0" y="115628"/>
                  <a:pt x="0" y="139303"/>
                </a:cubicBezTo>
                <a:lnTo>
                  <a:pt x="0" y="150019"/>
                </a:lnTo>
                <a:cubicBezTo>
                  <a:pt x="0" y="155946"/>
                  <a:pt x="4789" y="160734"/>
                  <a:pt x="10716" y="160734"/>
                </a:cubicBezTo>
                <a:lnTo>
                  <a:pt x="39748" y="160734"/>
                </a:lnTo>
                <a:cubicBezTo>
                  <a:pt x="38308" y="157453"/>
                  <a:pt x="37505" y="153836"/>
                  <a:pt x="37505" y="150019"/>
                </a:cubicBezTo>
                <a:lnTo>
                  <a:pt x="37505" y="144661"/>
                </a:lnTo>
                <a:cubicBezTo>
                  <a:pt x="37505" y="126846"/>
                  <a:pt x="44202" y="110572"/>
                  <a:pt x="55219" y="98249"/>
                </a:cubicBezTo>
                <a:cubicBezTo>
                  <a:pt x="51301" y="97077"/>
                  <a:pt x="47149" y="96441"/>
                  <a:pt x="42863" y="96441"/>
                </a:cubicBezTo>
                <a:close/>
                <a:moveTo>
                  <a:pt x="206276" y="53578"/>
                </a:moveTo>
                <a:cubicBezTo>
                  <a:pt x="206276" y="40271"/>
                  <a:pt x="195472" y="29468"/>
                  <a:pt x="182166" y="29468"/>
                </a:cubicBezTo>
                <a:cubicBezTo>
                  <a:pt x="168859" y="29468"/>
                  <a:pt x="158055" y="40271"/>
                  <a:pt x="158055" y="53578"/>
                </a:cubicBezTo>
                <a:cubicBezTo>
                  <a:pt x="158055" y="66885"/>
                  <a:pt x="168859" y="77688"/>
                  <a:pt x="182166" y="77688"/>
                </a:cubicBezTo>
                <a:cubicBezTo>
                  <a:pt x="195472" y="77688"/>
                  <a:pt x="206276" y="66885"/>
                  <a:pt x="206276" y="5357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5" name="Text 23"/>
          <p:cNvSpPr/>
          <p:nvPr/>
        </p:nvSpPr>
        <p:spPr>
          <a:xfrm>
            <a:off x="6600825" y="140970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 Concurrent Access Support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81750" y="1752600"/>
            <a:ext cx="5343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Single-user application; multiple instances accessing shared .txt files may cause race conditions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81750" y="2209800"/>
            <a:ext cx="53340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Solution:</a:t>
            </a: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Database with transaction locking mechanisms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0300" y="2667000"/>
            <a:ext cx="5600700" cy="1066800"/>
          </a:xfrm>
          <a:custGeom>
            <a:avLst/>
            <a:gdLst/>
            <a:ahLst/>
            <a:cxnLst/>
            <a:rect l="l" t="t" r="r" b="b"/>
            <a:pathLst>
              <a:path w="5600700" h="1066800">
                <a:moveTo>
                  <a:pt x="0" y="0"/>
                </a:moveTo>
                <a:lnTo>
                  <a:pt x="5600700" y="0"/>
                </a:lnTo>
                <a:lnTo>
                  <a:pt x="56007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9" name="Shape 27"/>
          <p:cNvSpPr/>
          <p:nvPr/>
        </p:nvSpPr>
        <p:spPr>
          <a:xfrm>
            <a:off x="6210300" y="26670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0" name="Shape 28"/>
          <p:cNvSpPr/>
          <p:nvPr/>
        </p:nvSpPr>
        <p:spPr>
          <a:xfrm>
            <a:off x="6394847" y="28670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1584" y="80367"/>
                </a:moveTo>
                <a:lnTo>
                  <a:pt x="112648" y="80367"/>
                </a:lnTo>
                <a:cubicBezTo>
                  <a:pt x="106721" y="80367"/>
                  <a:pt x="101932" y="75579"/>
                  <a:pt x="101932" y="69652"/>
                </a:cubicBezTo>
                <a:lnTo>
                  <a:pt x="101932" y="10716"/>
                </a:lnTo>
                <a:cubicBezTo>
                  <a:pt x="101932" y="4789"/>
                  <a:pt x="106754" y="-67"/>
                  <a:pt x="112615" y="703"/>
                </a:cubicBezTo>
                <a:cubicBezTo>
                  <a:pt x="148445" y="5458"/>
                  <a:pt x="176841" y="33855"/>
                  <a:pt x="181596" y="69685"/>
                </a:cubicBezTo>
                <a:cubicBezTo>
                  <a:pt x="182367" y="75545"/>
                  <a:pt x="177511" y="80367"/>
                  <a:pt x="171584" y="80367"/>
                </a:cubicBezTo>
                <a:close/>
                <a:moveTo>
                  <a:pt x="74541" y="12457"/>
                </a:moveTo>
                <a:cubicBezTo>
                  <a:pt x="80602" y="11184"/>
                  <a:pt x="85859" y="16140"/>
                  <a:pt x="85859" y="22335"/>
                </a:cubicBezTo>
                <a:lnTo>
                  <a:pt x="85859" y="88404"/>
                </a:lnTo>
                <a:cubicBezTo>
                  <a:pt x="85859" y="90279"/>
                  <a:pt x="86529" y="92087"/>
                  <a:pt x="87701" y="93527"/>
                </a:cubicBezTo>
                <a:lnTo>
                  <a:pt x="131936" y="146905"/>
                </a:lnTo>
                <a:cubicBezTo>
                  <a:pt x="135854" y="151626"/>
                  <a:pt x="135017" y="158759"/>
                  <a:pt x="129626" y="161672"/>
                </a:cubicBezTo>
                <a:cubicBezTo>
                  <a:pt x="118207" y="167900"/>
                  <a:pt x="105114" y="171450"/>
                  <a:pt x="91217" y="171450"/>
                </a:cubicBezTo>
                <a:cubicBezTo>
                  <a:pt x="46847" y="171450"/>
                  <a:pt x="10850" y="135452"/>
                  <a:pt x="10850" y="91083"/>
                </a:cubicBezTo>
                <a:cubicBezTo>
                  <a:pt x="10850" y="52406"/>
                  <a:pt x="38141" y="20125"/>
                  <a:pt x="74541" y="12457"/>
                </a:cubicBezTo>
                <a:close/>
                <a:moveTo>
                  <a:pt x="159998" y="96441"/>
                </a:moveTo>
                <a:lnTo>
                  <a:pt x="181429" y="96441"/>
                </a:lnTo>
                <a:cubicBezTo>
                  <a:pt x="187624" y="96441"/>
                  <a:pt x="192580" y="101698"/>
                  <a:pt x="191307" y="107759"/>
                </a:cubicBezTo>
                <a:cubicBezTo>
                  <a:pt x="187892" y="123966"/>
                  <a:pt x="179587" y="138366"/>
                  <a:pt x="168001" y="149349"/>
                </a:cubicBezTo>
                <a:cubicBezTo>
                  <a:pt x="163882" y="153267"/>
                  <a:pt x="157419" y="152430"/>
                  <a:pt x="153803" y="148043"/>
                </a:cubicBezTo>
                <a:lnTo>
                  <a:pt x="125540" y="113987"/>
                </a:lnTo>
                <a:cubicBezTo>
                  <a:pt x="119747" y="106989"/>
                  <a:pt x="124737" y="96441"/>
                  <a:pt x="133778" y="96441"/>
                </a:cubicBezTo>
                <a:lnTo>
                  <a:pt x="159964" y="96441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1" name="Text 29"/>
          <p:cNvSpPr/>
          <p:nvPr/>
        </p:nvSpPr>
        <p:spPr>
          <a:xfrm>
            <a:off x="6600825" y="281940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Limited Reporting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81750" y="3162300"/>
            <a:ext cx="534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Manager sales dashboard provides simple revenue summaries without export options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81750" y="3429000"/>
            <a:ext cx="53340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Solution:</a:t>
            </a: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PDF/Excel export and trend analysis charts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0300" y="3886200"/>
            <a:ext cx="5600700" cy="1066800"/>
          </a:xfrm>
          <a:custGeom>
            <a:avLst/>
            <a:gdLst/>
            <a:ahLst/>
            <a:cxnLst/>
            <a:rect l="l" t="t" r="r" b="b"/>
            <a:pathLst>
              <a:path w="5600700" h="1066800">
                <a:moveTo>
                  <a:pt x="0" y="0"/>
                </a:moveTo>
                <a:lnTo>
                  <a:pt x="5600700" y="0"/>
                </a:lnTo>
                <a:lnTo>
                  <a:pt x="56007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35" name="Shape 33"/>
          <p:cNvSpPr/>
          <p:nvPr/>
        </p:nvSpPr>
        <p:spPr>
          <a:xfrm>
            <a:off x="6210300" y="38862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6" name="Shape 34"/>
          <p:cNvSpPr/>
          <p:nvPr/>
        </p:nvSpPr>
        <p:spPr>
          <a:xfrm>
            <a:off x="6405563" y="4086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3" y="21431"/>
                </a:moveTo>
                <a:cubicBezTo>
                  <a:pt x="7200" y="21431"/>
                  <a:pt x="0" y="28631"/>
                  <a:pt x="0" y="37505"/>
                </a:cubicBezTo>
                <a:cubicBezTo>
                  <a:pt x="0" y="42561"/>
                  <a:pt x="2378" y="47316"/>
                  <a:pt x="6429" y="50363"/>
                </a:cubicBezTo>
                <a:lnTo>
                  <a:pt x="76081" y="102602"/>
                </a:lnTo>
                <a:cubicBezTo>
                  <a:pt x="81807" y="106888"/>
                  <a:pt x="89643" y="106888"/>
                  <a:pt x="95369" y="102602"/>
                </a:cubicBezTo>
                <a:lnTo>
                  <a:pt x="165021" y="50363"/>
                </a:lnTo>
                <a:cubicBezTo>
                  <a:pt x="169072" y="47316"/>
                  <a:pt x="171450" y="42561"/>
                  <a:pt x="171450" y="37505"/>
                </a:cubicBezTo>
                <a:cubicBezTo>
                  <a:pt x="171450" y="28631"/>
                  <a:pt x="164250" y="21431"/>
                  <a:pt x="155377" y="21431"/>
                </a:cubicBezTo>
                <a:lnTo>
                  <a:pt x="16073" y="21431"/>
                </a:lnTo>
                <a:close/>
                <a:moveTo>
                  <a:pt x="0" y="65633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5633"/>
                </a:lnTo>
                <a:lnTo>
                  <a:pt x="105013" y="115461"/>
                </a:lnTo>
                <a:cubicBezTo>
                  <a:pt x="93594" y="124033"/>
                  <a:pt x="77856" y="124033"/>
                  <a:pt x="66437" y="115461"/>
                </a:cubicBezTo>
                <a:lnTo>
                  <a:pt x="0" y="65633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7" name="Text 35"/>
          <p:cNvSpPr/>
          <p:nvPr/>
        </p:nvSpPr>
        <p:spPr>
          <a:xfrm>
            <a:off x="6600825" y="403860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 Email Notifications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81750" y="4381500"/>
            <a:ext cx="534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Live systems should send email confirmations for bookings, payments, and issue reports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81750" y="4648200"/>
            <a:ext cx="53340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Solution:</a:t>
            </a: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Integration with email service providers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813" y="379813"/>
            <a:ext cx="11498841" cy="189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6.2 Conclusion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9813" y="645682"/>
            <a:ext cx="11603290" cy="379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Project Assessment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8804" y="1253383"/>
            <a:ext cx="11413383" cy="1253383"/>
          </a:xfrm>
          <a:custGeom>
            <a:avLst/>
            <a:gdLst/>
            <a:ahLst/>
            <a:cxnLst/>
            <a:rect l="l" t="t" r="r" b="b"/>
            <a:pathLst>
              <a:path w="11413383" h="1253383">
                <a:moveTo>
                  <a:pt x="0" y="0"/>
                </a:moveTo>
                <a:lnTo>
                  <a:pt x="11413383" y="0"/>
                </a:lnTo>
                <a:lnTo>
                  <a:pt x="11413383" y="1253383"/>
                </a:lnTo>
                <a:lnTo>
                  <a:pt x="0" y="125338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398804" y="1253383"/>
            <a:ext cx="37981" cy="1253383"/>
          </a:xfrm>
          <a:custGeom>
            <a:avLst/>
            <a:gdLst/>
            <a:ahLst/>
            <a:cxnLst/>
            <a:rect l="l" t="t" r="r" b="b"/>
            <a:pathLst>
              <a:path w="37981" h="1253383">
                <a:moveTo>
                  <a:pt x="0" y="0"/>
                </a:moveTo>
                <a:lnTo>
                  <a:pt x="37981" y="0"/>
                </a:lnTo>
                <a:lnTo>
                  <a:pt x="37981" y="1253383"/>
                </a:lnTo>
                <a:lnTo>
                  <a:pt x="0" y="1253383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607701" y="1443290"/>
            <a:ext cx="11109533" cy="2658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OOP Principles Demonstrated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7701" y="1823103"/>
            <a:ext cx="11090542" cy="4937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Hall Booking Management System is a </a:t>
            </a:r>
            <a:r>
              <a:rPr lang="en-US" sz="11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fully functional Java GUI application</a:t>
            </a:r>
            <a:r>
              <a:rPr lang="en-US" sz="119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demonstrating all four OOP principles: </a:t>
            </a:r>
            <a:r>
              <a:rPr lang="en-US" sz="1195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encapsulation, inheritance, polymorphism, and abstraction</a:t>
            </a:r>
            <a:r>
              <a:rPr lang="en-US" sz="119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8804" y="2696673"/>
            <a:ext cx="5602243" cy="1196411"/>
          </a:xfrm>
          <a:custGeom>
            <a:avLst/>
            <a:gdLst/>
            <a:ahLst/>
            <a:cxnLst/>
            <a:rect l="l" t="t" r="r" b="b"/>
            <a:pathLst>
              <a:path w="5602243" h="1196411">
                <a:moveTo>
                  <a:pt x="0" y="0"/>
                </a:moveTo>
                <a:lnTo>
                  <a:pt x="5602243" y="0"/>
                </a:lnTo>
                <a:lnTo>
                  <a:pt x="5602243" y="1196411"/>
                </a:lnTo>
                <a:lnTo>
                  <a:pt x="0" y="119641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9" name="Shape 7"/>
          <p:cNvSpPr/>
          <p:nvPr/>
        </p:nvSpPr>
        <p:spPr>
          <a:xfrm>
            <a:off x="398804" y="2696673"/>
            <a:ext cx="37981" cy="1196411"/>
          </a:xfrm>
          <a:custGeom>
            <a:avLst/>
            <a:gdLst/>
            <a:ahLst/>
            <a:cxnLst/>
            <a:rect l="l" t="t" r="r" b="b"/>
            <a:pathLst>
              <a:path w="37981" h="1196411">
                <a:moveTo>
                  <a:pt x="0" y="0"/>
                </a:moveTo>
                <a:lnTo>
                  <a:pt x="37981" y="0"/>
                </a:lnTo>
                <a:lnTo>
                  <a:pt x="37981" y="1196411"/>
                </a:lnTo>
                <a:lnTo>
                  <a:pt x="0" y="119641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607701" y="2886579"/>
            <a:ext cx="5288897" cy="2658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Class Hierarchy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7701" y="3266393"/>
            <a:ext cx="5269907" cy="436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Maintains a hierarchy with </a:t>
            </a:r>
            <a:r>
              <a:rPr lang="en-US" sz="10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abstract base class User</a:t>
            </a:r>
            <a:r>
              <a:rPr lang="en-US" sz="10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preventing duplication across four user roles and providing a </a:t>
            </a:r>
            <a:r>
              <a:rPr lang="en-US" sz="10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clean, extensible structure</a:t>
            </a:r>
            <a:r>
              <a:rPr lang="en-US" sz="10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07718" y="2696673"/>
            <a:ext cx="5602243" cy="1196411"/>
          </a:xfrm>
          <a:custGeom>
            <a:avLst/>
            <a:gdLst/>
            <a:ahLst/>
            <a:cxnLst/>
            <a:rect l="l" t="t" r="r" b="b"/>
            <a:pathLst>
              <a:path w="5602243" h="1196411">
                <a:moveTo>
                  <a:pt x="0" y="0"/>
                </a:moveTo>
                <a:lnTo>
                  <a:pt x="5602243" y="0"/>
                </a:lnTo>
                <a:lnTo>
                  <a:pt x="5602243" y="1196411"/>
                </a:lnTo>
                <a:lnTo>
                  <a:pt x="0" y="119641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3" name="Shape 11"/>
          <p:cNvSpPr/>
          <p:nvPr/>
        </p:nvSpPr>
        <p:spPr>
          <a:xfrm>
            <a:off x="6207718" y="2696673"/>
            <a:ext cx="37981" cy="1196411"/>
          </a:xfrm>
          <a:custGeom>
            <a:avLst/>
            <a:gdLst/>
            <a:ahLst/>
            <a:cxnLst/>
            <a:rect l="l" t="t" r="r" b="b"/>
            <a:pathLst>
              <a:path w="37981" h="1196411">
                <a:moveTo>
                  <a:pt x="0" y="0"/>
                </a:moveTo>
                <a:lnTo>
                  <a:pt x="37981" y="0"/>
                </a:lnTo>
                <a:lnTo>
                  <a:pt x="37981" y="1196411"/>
                </a:lnTo>
                <a:lnTo>
                  <a:pt x="0" y="119641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Text 12"/>
          <p:cNvSpPr/>
          <p:nvPr/>
        </p:nvSpPr>
        <p:spPr>
          <a:xfrm>
            <a:off x="6416616" y="2886579"/>
            <a:ext cx="5288897" cy="2658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Layer Abstraction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16616" y="3266393"/>
            <a:ext cx="5269907" cy="436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FileManager utility class</a:t>
            </a:r>
            <a:r>
              <a:rPr lang="en-US" sz="10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provides well-abstracted data layer, making </a:t>
            </a:r>
            <a:r>
              <a:rPr lang="en-US" sz="10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GUI code independent of storage mechanism</a:t>
            </a:r>
            <a:r>
              <a:rPr lang="en-US" sz="10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8804" y="4078243"/>
            <a:ext cx="11413383" cy="1937047"/>
          </a:xfrm>
          <a:custGeom>
            <a:avLst/>
            <a:gdLst/>
            <a:ahLst/>
            <a:cxnLst/>
            <a:rect l="l" t="t" r="r" b="b"/>
            <a:pathLst>
              <a:path w="11413383" h="1937047">
                <a:moveTo>
                  <a:pt x="0" y="0"/>
                </a:moveTo>
                <a:lnTo>
                  <a:pt x="11413383" y="0"/>
                </a:lnTo>
                <a:lnTo>
                  <a:pt x="11413383" y="1937047"/>
                </a:lnTo>
                <a:lnTo>
                  <a:pt x="0" y="193704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7" name="Shape 15"/>
          <p:cNvSpPr/>
          <p:nvPr/>
        </p:nvSpPr>
        <p:spPr>
          <a:xfrm>
            <a:off x="398804" y="4078243"/>
            <a:ext cx="37981" cy="1937047"/>
          </a:xfrm>
          <a:custGeom>
            <a:avLst/>
            <a:gdLst/>
            <a:ahLst/>
            <a:cxnLst/>
            <a:rect l="l" t="t" r="r" b="b"/>
            <a:pathLst>
              <a:path w="37981" h="1937047">
                <a:moveTo>
                  <a:pt x="0" y="0"/>
                </a:moveTo>
                <a:lnTo>
                  <a:pt x="37981" y="0"/>
                </a:lnTo>
                <a:lnTo>
                  <a:pt x="37981" y="1937047"/>
                </a:lnTo>
                <a:lnTo>
                  <a:pt x="0" y="1937047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8" name="Text 16"/>
          <p:cNvSpPr/>
          <p:nvPr/>
        </p:nvSpPr>
        <p:spPr>
          <a:xfrm>
            <a:off x="607701" y="4268150"/>
            <a:ext cx="11109533" cy="2658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Requirements Fulfilled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7701" y="4647963"/>
            <a:ext cx="5507290" cy="227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Core Requirements: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7701" y="4951813"/>
            <a:ext cx="5497794" cy="189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✓ All role-specific dashboards implemented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7701" y="5179701"/>
            <a:ext cx="5497794" cy="189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✓ Minimum assignment requirements met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7701" y="5407589"/>
            <a:ext cx="5497794" cy="189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✓ Four user roles with distinct features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88728" y="4647963"/>
            <a:ext cx="5507290" cy="227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Additional Features: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88728" y="4951813"/>
            <a:ext cx="5497794" cy="189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✓ Richer issue tracking environment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88728" y="5179701"/>
            <a:ext cx="5497794" cy="189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✓ Manager response capability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88728" y="5407589"/>
            <a:ext cx="5497794" cy="189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✓ Multiple payment methods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88728" y="5635477"/>
            <a:ext cx="5497794" cy="189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✓ Auto-seeding of default accounts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8804" y="6205196"/>
            <a:ext cx="11413383" cy="645682"/>
          </a:xfrm>
          <a:custGeom>
            <a:avLst/>
            <a:gdLst/>
            <a:ahLst/>
            <a:cxnLst/>
            <a:rect l="l" t="t" r="r" b="b"/>
            <a:pathLst>
              <a:path w="11413383" h="645682">
                <a:moveTo>
                  <a:pt x="0" y="0"/>
                </a:moveTo>
                <a:lnTo>
                  <a:pt x="11413383" y="0"/>
                </a:lnTo>
                <a:lnTo>
                  <a:pt x="11413383" y="645682"/>
                </a:lnTo>
                <a:lnTo>
                  <a:pt x="0" y="64568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9" name="Shape 27"/>
          <p:cNvSpPr/>
          <p:nvPr/>
        </p:nvSpPr>
        <p:spPr>
          <a:xfrm>
            <a:off x="398804" y="6205196"/>
            <a:ext cx="37981" cy="645682"/>
          </a:xfrm>
          <a:custGeom>
            <a:avLst/>
            <a:gdLst/>
            <a:ahLst/>
            <a:cxnLst/>
            <a:rect l="l" t="t" r="r" b="b"/>
            <a:pathLst>
              <a:path w="37981" h="645682">
                <a:moveTo>
                  <a:pt x="0" y="0"/>
                </a:moveTo>
                <a:lnTo>
                  <a:pt x="37981" y="0"/>
                </a:lnTo>
                <a:lnTo>
                  <a:pt x="37981" y="645682"/>
                </a:lnTo>
                <a:lnTo>
                  <a:pt x="0" y="645682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0" name="Text 28"/>
          <p:cNvSpPr/>
          <p:nvPr/>
        </p:nvSpPr>
        <p:spPr>
          <a:xfrm>
            <a:off x="564972" y="6395103"/>
            <a:ext cx="11100037" cy="2658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project achieved its objective by designing and implementing an </a:t>
            </a:r>
            <a:r>
              <a:rPr lang="en-US" sz="1345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Object-Oriented System using Java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Academic References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828800"/>
            <a:ext cx="11410950" cy="647700"/>
          </a:xfrm>
          <a:custGeom>
            <a:avLst/>
            <a:gdLst/>
            <a:ahLst/>
            <a:cxnLst/>
            <a:rect l="l" t="t" r="r" b="b"/>
            <a:pathLst>
              <a:path w="11410950" h="647700">
                <a:moveTo>
                  <a:pt x="0" y="0"/>
                </a:moveTo>
                <a:lnTo>
                  <a:pt x="11410950" y="0"/>
                </a:lnTo>
                <a:lnTo>
                  <a:pt x="114109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400050" y="18288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609600" y="2019300"/>
            <a:ext cx="11096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Bloch, J. (2018). Effective Java. Addison-Wesley.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2705100"/>
            <a:ext cx="11410950" cy="647700"/>
          </a:xfrm>
          <a:custGeom>
            <a:avLst/>
            <a:gdLst/>
            <a:ahLst/>
            <a:cxnLst/>
            <a:rect l="l" t="t" r="r" b="b"/>
            <a:pathLst>
              <a:path w="11410950" h="647700">
                <a:moveTo>
                  <a:pt x="0" y="0"/>
                </a:moveTo>
                <a:lnTo>
                  <a:pt x="11410950" y="0"/>
                </a:lnTo>
                <a:lnTo>
                  <a:pt x="114109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8" name="Shape 6"/>
          <p:cNvSpPr/>
          <p:nvPr/>
        </p:nvSpPr>
        <p:spPr>
          <a:xfrm>
            <a:off x="400050" y="27051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Text 7"/>
          <p:cNvSpPr/>
          <p:nvPr/>
        </p:nvSpPr>
        <p:spPr>
          <a:xfrm>
            <a:off x="609600" y="2895600"/>
            <a:ext cx="11096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Deitel, P., &amp; Deitel, Harvey. (2020). Java: How to Program, Early Objects. Pearson.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581400"/>
            <a:ext cx="11410950" cy="647700"/>
          </a:xfrm>
          <a:custGeom>
            <a:avLst/>
            <a:gdLst/>
            <a:ahLst/>
            <a:cxnLst/>
            <a:rect l="l" t="t" r="r" b="b"/>
            <a:pathLst>
              <a:path w="11410950" h="647700">
                <a:moveTo>
                  <a:pt x="0" y="0"/>
                </a:moveTo>
                <a:lnTo>
                  <a:pt x="11410950" y="0"/>
                </a:lnTo>
                <a:lnTo>
                  <a:pt x="114109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1" name="Shape 9"/>
          <p:cNvSpPr/>
          <p:nvPr/>
        </p:nvSpPr>
        <p:spPr>
          <a:xfrm>
            <a:off x="400050" y="35814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Text 10"/>
          <p:cNvSpPr/>
          <p:nvPr/>
        </p:nvSpPr>
        <p:spPr>
          <a:xfrm>
            <a:off x="609600" y="3771900"/>
            <a:ext cx="11096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JetBrains. (2024). IntelliJ IDEA: The Java IDE for Professional Developers. JetBrains.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4457700"/>
            <a:ext cx="11410950" cy="647700"/>
          </a:xfrm>
          <a:custGeom>
            <a:avLst/>
            <a:gdLst/>
            <a:ahLst/>
            <a:cxnLst/>
            <a:rect l="l" t="t" r="r" b="b"/>
            <a:pathLst>
              <a:path w="11410950" h="647700">
                <a:moveTo>
                  <a:pt x="0" y="0"/>
                </a:moveTo>
                <a:lnTo>
                  <a:pt x="11410950" y="0"/>
                </a:lnTo>
                <a:lnTo>
                  <a:pt x="114109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4" name="Shape 12"/>
          <p:cNvSpPr/>
          <p:nvPr/>
        </p:nvSpPr>
        <p:spPr>
          <a:xfrm>
            <a:off x="400050" y="44577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Text 13"/>
          <p:cNvSpPr/>
          <p:nvPr/>
        </p:nvSpPr>
        <p:spPr>
          <a:xfrm>
            <a:off x="609600" y="4648200"/>
            <a:ext cx="11096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Oracle Corporation. (2024). Java SE 8 Documentation. Oracle.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5334000"/>
            <a:ext cx="11410950" cy="647700"/>
          </a:xfrm>
          <a:custGeom>
            <a:avLst/>
            <a:gdLst/>
            <a:ahLst/>
            <a:cxnLst/>
            <a:rect l="l" t="t" r="r" b="b"/>
            <a:pathLst>
              <a:path w="11410950" h="647700">
                <a:moveTo>
                  <a:pt x="0" y="0"/>
                </a:moveTo>
                <a:lnTo>
                  <a:pt x="11410950" y="0"/>
                </a:lnTo>
                <a:lnTo>
                  <a:pt x="114109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7" name="Shape 15"/>
          <p:cNvSpPr/>
          <p:nvPr/>
        </p:nvSpPr>
        <p:spPr>
          <a:xfrm>
            <a:off x="400050" y="53340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8" name="Text 16"/>
          <p:cNvSpPr/>
          <p:nvPr/>
        </p:nvSpPr>
        <p:spPr>
          <a:xfrm>
            <a:off x="609600" y="5524500"/>
            <a:ext cx="11096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Oracle Corporation. (2024). Java Swing Tutorial. Oracle.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ca89bb1c43c7e2640e5a3313413b714ed3b2ef66.jpg"/>
          <p:cNvPicPr>
            <a:picLocks noChangeAspect="1"/>
          </p:cNvPicPr>
          <p:nvPr/>
        </p:nvPicPr>
        <p:blipFill>
          <a:blip r:embed="rId1">
            <a:alphaModFix amt="15000"/>
          </a:blip>
          <a:srcRect t="5000" b="500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581650" y="1619250"/>
            <a:ext cx="1028700" cy="914400"/>
          </a:xfrm>
          <a:custGeom>
            <a:avLst/>
            <a:gdLst/>
            <a:ahLst/>
            <a:cxnLst/>
            <a:rect l="l" t="t" r="r" b="b"/>
            <a:pathLst>
              <a:path w="1028700" h="914400">
                <a:moveTo>
                  <a:pt x="85725" y="349687"/>
                </a:moveTo>
                <a:lnTo>
                  <a:pt x="459343" y="503456"/>
                </a:lnTo>
                <a:cubicBezTo>
                  <a:pt x="476845" y="510600"/>
                  <a:pt x="495419" y="514350"/>
                  <a:pt x="514350" y="514350"/>
                </a:cubicBezTo>
                <a:cubicBezTo>
                  <a:pt x="533281" y="514350"/>
                  <a:pt x="551855" y="510600"/>
                  <a:pt x="569357" y="503456"/>
                </a:cubicBezTo>
                <a:lnTo>
                  <a:pt x="1002268" y="325219"/>
                </a:lnTo>
                <a:cubicBezTo>
                  <a:pt x="1018342" y="318611"/>
                  <a:pt x="1028700" y="303074"/>
                  <a:pt x="1028700" y="285750"/>
                </a:cubicBezTo>
                <a:cubicBezTo>
                  <a:pt x="1028700" y="268426"/>
                  <a:pt x="1018342" y="252889"/>
                  <a:pt x="1002268" y="246281"/>
                </a:cubicBezTo>
                <a:lnTo>
                  <a:pt x="569357" y="68044"/>
                </a:lnTo>
                <a:cubicBezTo>
                  <a:pt x="551855" y="60900"/>
                  <a:pt x="533281" y="57150"/>
                  <a:pt x="514350" y="57150"/>
                </a:cubicBezTo>
                <a:cubicBezTo>
                  <a:pt x="495419" y="57150"/>
                  <a:pt x="476845" y="60900"/>
                  <a:pt x="459343" y="68044"/>
                </a:cubicBezTo>
                <a:lnTo>
                  <a:pt x="26432" y="246281"/>
                </a:lnTo>
                <a:cubicBezTo>
                  <a:pt x="10358" y="252889"/>
                  <a:pt x="0" y="268426"/>
                  <a:pt x="0" y="285750"/>
                </a:cubicBezTo>
                <a:lnTo>
                  <a:pt x="0" y="814388"/>
                </a:lnTo>
                <a:cubicBezTo>
                  <a:pt x="0" y="838140"/>
                  <a:pt x="19110" y="857250"/>
                  <a:pt x="42863" y="857250"/>
                </a:cubicBezTo>
                <a:cubicBezTo>
                  <a:pt x="66615" y="857250"/>
                  <a:pt x="85725" y="838140"/>
                  <a:pt x="85725" y="814388"/>
                </a:cubicBezTo>
                <a:lnTo>
                  <a:pt x="85725" y="349687"/>
                </a:lnTo>
                <a:close/>
                <a:moveTo>
                  <a:pt x="171450" y="477738"/>
                </a:moveTo>
                <a:lnTo>
                  <a:pt x="171450" y="685800"/>
                </a:lnTo>
                <a:cubicBezTo>
                  <a:pt x="171450" y="780455"/>
                  <a:pt x="325041" y="857250"/>
                  <a:pt x="514350" y="857250"/>
                </a:cubicBezTo>
                <a:cubicBezTo>
                  <a:pt x="703659" y="857250"/>
                  <a:pt x="857250" y="780455"/>
                  <a:pt x="857250" y="685800"/>
                </a:cubicBezTo>
                <a:lnTo>
                  <a:pt x="857250" y="477560"/>
                </a:lnTo>
                <a:lnTo>
                  <a:pt x="602040" y="582751"/>
                </a:lnTo>
                <a:cubicBezTo>
                  <a:pt x="574179" y="594181"/>
                  <a:pt x="544532" y="600075"/>
                  <a:pt x="514350" y="600075"/>
                </a:cubicBezTo>
                <a:cubicBezTo>
                  <a:pt x="484168" y="600075"/>
                  <a:pt x="454521" y="594181"/>
                  <a:pt x="426660" y="582751"/>
                </a:cubicBezTo>
                <a:lnTo>
                  <a:pt x="171450" y="47756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Text 2"/>
          <p:cNvSpPr/>
          <p:nvPr/>
        </p:nvSpPr>
        <p:spPr>
          <a:xfrm>
            <a:off x="4542830" y="3067050"/>
            <a:ext cx="310515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38671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4"/>
          <p:cNvSpPr/>
          <p:nvPr/>
        </p:nvSpPr>
        <p:spPr>
          <a:xfrm>
            <a:off x="4523036" y="4210050"/>
            <a:ext cx="3143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53755" y="50482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Text 6"/>
          <p:cNvSpPr/>
          <p:nvPr/>
        </p:nvSpPr>
        <p:spPr>
          <a:xfrm>
            <a:off x="4072830" y="501015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Java Swing Application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82444" y="50482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Text 8"/>
          <p:cNvSpPr/>
          <p:nvPr/>
        </p:nvSpPr>
        <p:spPr>
          <a:xfrm>
            <a:off x="6172944" y="5010150"/>
            <a:ext cx="1343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Hall Symphony Inc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810351" y="50482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Text 10"/>
          <p:cNvSpPr/>
          <p:nvPr/>
        </p:nvSpPr>
        <p:spPr>
          <a:xfrm>
            <a:off x="8010376" y="5010150"/>
            <a:ext cx="371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12382</Words>
  <Application>WPS Presentation</Application>
  <PresentationFormat>On-screen Show (16:9)</PresentationFormat>
  <Paragraphs>683</Paragraphs>
  <Slides>34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54" baseType="lpstr">
      <vt:lpstr>Arial</vt:lpstr>
      <vt:lpstr>SimSun</vt:lpstr>
      <vt:lpstr>Wingdings</vt:lpstr>
      <vt:lpstr>Sorts Mill Goudy</vt:lpstr>
      <vt:lpstr>C059</vt:lpstr>
      <vt:lpstr>Sorts Mill Goudy</vt:lpstr>
      <vt:lpstr>Sorts Mill Goudy</vt:lpstr>
      <vt:lpstr>Calibri</vt:lpstr>
      <vt:lpstr>Trebuchet MS</vt:lpstr>
      <vt:lpstr>Microsoft YaHei</vt:lpstr>
      <vt:lpstr>Droid Sans Fallback</vt:lpstr>
      <vt:lpstr>Arial Unicode MS</vt:lpstr>
      <vt:lpstr>MiSans</vt:lpstr>
      <vt:lpstr>MiSans</vt:lpstr>
      <vt:lpstr>MiSans</vt:lpstr>
      <vt:lpstr>DejaVu Math TeX Gyre</vt:lpstr>
      <vt:lpstr>Webdings</vt:lpstr>
      <vt:lpstr>Times New Roman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Hall Booking Management System</dc:title>
  <dc:creator>Kimi</dc:creator>
  <dc:subject>Hall Booking Management System</dc:subject>
  <cp:lastModifiedBy>ghostaakash</cp:lastModifiedBy>
  <cp:revision>29</cp:revision>
  <dcterms:created xsi:type="dcterms:W3CDTF">2026-03-14T11:12:37Z</dcterms:created>
  <dcterms:modified xsi:type="dcterms:W3CDTF">2026-03-14T11:12:37Z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{"Label":"Hall Booking Management System","ContentProducer":"001191110108MACG2KBH8F10000","ProduceID":"19ceaffd-e2d2-8a84-8000-00001d6503d4","ReservedCode1":"","ContentPropagator":"001191110108MACG2KBH8F20000","PropagateID":"19ceaffd-e2d2-8a84-8000-00001d6503d4","ReservedCode2":""}</vt:lpwstr>
  </property>
  <property fmtid="{D5CDD505-2E9C-101B-9397-08002B2CF9AE}" pid="3" name="ICV">
    <vt:lpwstr/>
  </property>
  <property fmtid="{D5CDD505-2E9C-101B-9397-08002B2CF9AE}" pid="4" name="KSOProductBuildVer">
    <vt:lpwstr>1033-11.1.0.11723</vt:lpwstr>
  </property>
</Properties>
</file>